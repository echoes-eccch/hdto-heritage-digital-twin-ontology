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3"/>
  </p:notesMasterIdLst>
  <p:sldIdLst>
    <p:sldId id="393" r:id="rId5"/>
    <p:sldId id="370" r:id="rId6"/>
    <p:sldId id="258" r:id="rId7"/>
    <p:sldId id="260" r:id="rId8"/>
    <p:sldId id="261" r:id="rId9"/>
    <p:sldId id="372" r:id="rId10"/>
    <p:sldId id="386" r:id="rId11"/>
    <p:sldId id="360" r:id="rId12"/>
    <p:sldId id="394" r:id="rId13"/>
    <p:sldId id="395" r:id="rId14"/>
    <p:sldId id="376" r:id="rId15"/>
    <p:sldId id="377" r:id="rId16"/>
    <p:sldId id="396" r:id="rId17"/>
    <p:sldId id="399" r:id="rId18"/>
    <p:sldId id="400" r:id="rId19"/>
    <p:sldId id="390" r:id="rId20"/>
    <p:sldId id="380" r:id="rId21"/>
    <p:sldId id="314"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Noto Sans" panose="020B0502040504020204" pitchFamily="34" charset="0"/>
      <p:regular r:id="rId28"/>
      <p:bold r:id="rId29"/>
      <p:italic r:id="rId30"/>
      <p:boldItalic r:id="rId31"/>
    </p:embeddedFont>
    <p:embeddedFont>
      <p:font typeface="Noto Sans Light" panose="020B0604020202020204" charset="0"/>
      <p:regular r:id="rId32"/>
      <p:bold r:id="rId33"/>
      <p:italic r:id="rId34"/>
      <p:boldItalic r:id="rId35"/>
    </p:embeddedFont>
    <p:embeddedFont>
      <p:font typeface="Noto Sans SemiBold" panose="020B060402020202020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5DC"/>
    <a:srgbClr val="124E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36"/>
    <p:restoredTop sz="68244" autoAdjust="0"/>
  </p:normalViewPr>
  <p:slideViewPr>
    <p:cSldViewPr snapToGrid="0">
      <p:cViewPr varScale="1">
        <p:scale>
          <a:sx n="84" d="100"/>
          <a:sy n="84" d="100"/>
        </p:scale>
        <p:origin x="75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AE2E4C-5F24-46D0-828A-3C20084480C9}" type="datetimeFigureOut">
              <a:rPr lang="en-GB" smtClean="0"/>
              <a:t>16/06/2026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42E7A-97C1-44D8-8D5C-48AC529D407E}" type="slidenum">
              <a:rPr lang="en-GB" smtClean="0"/>
              <a:t>‹#›</a:t>
            </a:fld>
            <a:endParaRPr lang="en-GB"/>
          </a:p>
        </p:txBody>
      </p:sp>
    </p:spTree>
    <p:extLst>
      <p:ext uri="{BB962C8B-B14F-4D97-AF65-F5344CB8AC3E}">
        <p14:creationId xmlns:p14="http://schemas.microsoft.com/office/powerpoint/2010/main" val="791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F42E7A-97C1-44D8-8D5C-48AC529D407E}" type="slidenum">
              <a:rPr lang="en-GB" smtClean="0"/>
              <a:t>1</a:t>
            </a:fld>
            <a:endParaRPr lang="en-GB"/>
          </a:p>
        </p:txBody>
      </p:sp>
    </p:spTree>
    <p:extLst>
      <p:ext uri="{BB962C8B-B14F-4D97-AF65-F5344CB8AC3E}">
        <p14:creationId xmlns:p14="http://schemas.microsoft.com/office/powerpoint/2010/main" val="1431275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pPr>
            <a:endParaRPr lang="en-GB" dirty="0"/>
          </a:p>
        </p:txBody>
      </p:sp>
      <p:sp>
        <p:nvSpPr>
          <p:cNvPr id="4" name="Slide Number Placeholder 3"/>
          <p:cNvSpPr>
            <a:spLocks noGrp="1"/>
          </p:cNvSpPr>
          <p:nvPr>
            <p:ph type="sldNum" sz="quarter" idx="5"/>
          </p:nvPr>
        </p:nvSpPr>
        <p:spPr/>
        <p:txBody>
          <a:bodyPr/>
          <a:lstStyle/>
          <a:p>
            <a:fld id="{BCF42E7A-97C1-44D8-8D5C-48AC529D407E}" type="slidenum">
              <a:rPr lang="en-GB" smtClean="0"/>
              <a:t>4</a:t>
            </a:fld>
            <a:endParaRPr lang="en-GB"/>
          </a:p>
        </p:txBody>
      </p:sp>
    </p:spTree>
    <p:extLst>
      <p:ext uri="{BB962C8B-B14F-4D97-AF65-F5344CB8AC3E}">
        <p14:creationId xmlns:p14="http://schemas.microsoft.com/office/powerpoint/2010/main" val="4065214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200" dirty="0"/>
            </a:br>
            <a:endParaRPr lang="en-GR" dirty="0"/>
          </a:p>
        </p:txBody>
      </p:sp>
      <p:sp>
        <p:nvSpPr>
          <p:cNvPr id="4" name="Slide Number Placeholder 3"/>
          <p:cNvSpPr>
            <a:spLocks noGrp="1"/>
          </p:cNvSpPr>
          <p:nvPr>
            <p:ph type="sldNum" sz="quarter" idx="5"/>
          </p:nvPr>
        </p:nvSpPr>
        <p:spPr/>
        <p:txBody>
          <a:bodyPr/>
          <a:lstStyle/>
          <a:p>
            <a:fld id="{BCF42E7A-97C1-44D8-8D5C-48AC529D407E}" type="slidenum">
              <a:rPr lang="en-GB" smtClean="0"/>
              <a:t>11</a:t>
            </a:fld>
            <a:endParaRPr lang="en-GB"/>
          </a:p>
        </p:txBody>
      </p:sp>
    </p:spTree>
    <p:extLst>
      <p:ext uri="{BB962C8B-B14F-4D97-AF65-F5344CB8AC3E}">
        <p14:creationId xmlns:p14="http://schemas.microsoft.com/office/powerpoint/2010/main" val="3042628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F42E7A-97C1-44D8-8D5C-48AC529D407E}" type="slidenum">
              <a:rPr lang="en-GB" smtClean="0"/>
              <a:t>12</a:t>
            </a:fld>
            <a:endParaRPr lang="en-GB"/>
          </a:p>
        </p:txBody>
      </p:sp>
    </p:spTree>
    <p:extLst>
      <p:ext uri="{BB962C8B-B14F-4D97-AF65-F5344CB8AC3E}">
        <p14:creationId xmlns:p14="http://schemas.microsoft.com/office/powerpoint/2010/main" val="2600534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89518-FEC1-7D43-6714-8D0638822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EDD09-FDC6-E3FE-404D-2435A7BA0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25414-5405-9460-DB63-B0E341698909}"/>
              </a:ext>
            </a:extLst>
          </p:cNvPr>
          <p:cNvSpPr>
            <a:spLocks noGrp="1"/>
          </p:cNvSpPr>
          <p:nvPr>
            <p:ph type="body" idx="1"/>
          </p:nvPr>
        </p:nvSpPr>
        <p:spPr/>
        <p:txBody>
          <a:bodyPr/>
          <a:lstStyle/>
          <a:p>
            <a:endParaRPr lang="en-GR" dirty="0"/>
          </a:p>
        </p:txBody>
      </p:sp>
      <p:sp>
        <p:nvSpPr>
          <p:cNvPr id="4" name="Slide Number Placeholder 3">
            <a:extLst>
              <a:ext uri="{FF2B5EF4-FFF2-40B4-BE49-F238E27FC236}">
                <a16:creationId xmlns:a16="http://schemas.microsoft.com/office/drawing/2014/main" id="{6725A493-FFF4-A32B-360D-C83F6D19785A}"/>
              </a:ext>
            </a:extLst>
          </p:cNvPr>
          <p:cNvSpPr>
            <a:spLocks noGrp="1"/>
          </p:cNvSpPr>
          <p:nvPr>
            <p:ph type="sldNum" sz="quarter" idx="5"/>
          </p:nvPr>
        </p:nvSpPr>
        <p:spPr/>
        <p:txBody>
          <a:bodyPr/>
          <a:lstStyle/>
          <a:p>
            <a:fld id="{BCF42E7A-97C1-44D8-8D5C-48AC529D407E}" type="slidenum">
              <a:rPr lang="en-GB" smtClean="0"/>
              <a:t>16</a:t>
            </a:fld>
            <a:endParaRPr lang="en-GB"/>
          </a:p>
        </p:txBody>
      </p:sp>
    </p:spTree>
    <p:extLst>
      <p:ext uri="{BB962C8B-B14F-4D97-AF65-F5344CB8AC3E}">
        <p14:creationId xmlns:p14="http://schemas.microsoft.com/office/powerpoint/2010/main" val="11455297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F9F9F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7361A9-4041-1976-93EC-29105353F6F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5" name="Date Placeholder 4">
            <a:extLst>
              <a:ext uri="{FF2B5EF4-FFF2-40B4-BE49-F238E27FC236}">
                <a16:creationId xmlns:a16="http://schemas.microsoft.com/office/drawing/2014/main" id="{6D259CC3-3A1F-27CF-A198-40A5ACA74630}"/>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7" name="Slide Number Placeholder 6">
            <a:extLst>
              <a:ext uri="{FF2B5EF4-FFF2-40B4-BE49-F238E27FC236}">
                <a16:creationId xmlns:a16="http://schemas.microsoft.com/office/drawing/2014/main" id="{06E571AE-A7A9-6674-992C-BED2F7533D44}"/>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18" name="Picture Placeholder 2">
            <a:extLst>
              <a:ext uri="{FF2B5EF4-FFF2-40B4-BE49-F238E27FC236}">
                <a16:creationId xmlns:a16="http://schemas.microsoft.com/office/drawing/2014/main" id="{A1D68DBD-C535-22BB-AC1C-FFCE0BDD3E29}"/>
              </a:ext>
            </a:extLst>
          </p:cNvPr>
          <p:cNvSpPr>
            <a:spLocks noGrp="1"/>
          </p:cNvSpPr>
          <p:nvPr>
            <p:ph type="pic" idx="1"/>
          </p:nvPr>
        </p:nvSpPr>
        <p:spPr>
          <a:xfrm>
            <a:off x="9329630" y="0"/>
            <a:ext cx="2862370"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22" name="TextBox 21">
            <a:extLst>
              <a:ext uri="{FF2B5EF4-FFF2-40B4-BE49-F238E27FC236}">
                <a16:creationId xmlns:a16="http://schemas.microsoft.com/office/drawing/2014/main" id="{E4DD0E2E-0D83-F347-B68C-7DAA459FDFEE}"/>
              </a:ext>
            </a:extLst>
          </p:cNvPr>
          <p:cNvSpPr txBox="1"/>
          <p:nvPr userDrawn="1"/>
        </p:nvSpPr>
        <p:spPr>
          <a:xfrm>
            <a:off x="838200" y="5796829"/>
            <a:ext cx="5355772" cy="523220"/>
          </a:xfrm>
          <a:prstGeom prst="rect">
            <a:avLst/>
          </a:prstGeom>
          <a:noFill/>
        </p:spPr>
        <p:txBody>
          <a:bodyPr wrap="square" rtlCol="0">
            <a:spAutoFit/>
          </a:bodyPr>
          <a:lstStyle/>
          <a:p>
            <a:r>
              <a:rPr lang="it-IT" sz="2800">
                <a:solidFill>
                  <a:srgbClr val="0D4F89"/>
                </a:solidFill>
              </a:rPr>
              <a:t>#EchoesEccch</a:t>
            </a:r>
            <a:endParaRPr lang="en-GB" sz="2800">
              <a:solidFill>
                <a:srgbClr val="0D4F89"/>
              </a:solidFill>
            </a:endParaRPr>
          </a:p>
        </p:txBody>
      </p:sp>
      <p:sp>
        <p:nvSpPr>
          <p:cNvPr id="23" name="Title 1">
            <a:extLst>
              <a:ext uri="{FF2B5EF4-FFF2-40B4-BE49-F238E27FC236}">
                <a16:creationId xmlns:a16="http://schemas.microsoft.com/office/drawing/2014/main" id="{3EDEF410-14BA-5852-7156-5A8B714B5DF0}"/>
              </a:ext>
            </a:extLst>
          </p:cNvPr>
          <p:cNvSpPr>
            <a:spLocks noGrp="1"/>
          </p:cNvSpPr>
          <p:nvPr>
            <p:ph type="title" hasCustomPrompt="1"/>
          </p:nvPr>
        </p:nvSpPr>
        <p:spPr>
          <a:xfrm>
            <a:off x="838200" y="1070830"/>
            <a:ext cx="8242978"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First Name</a:t>
            </a:r>
          </a:p>
        </p:txBody>
      </p:sp>
      <p:sp>
        <p:nvSpPr>
          <p:cNvPr id="24" name="Text Placeholder 12">
            <a:extLst>
              <a:ext uri="{FF2B5EF4-FFF2-40B4-BE49-F238E27FC236}">
                <a16:creationId xmlns:a16="http://schemas.microsoft.com/office/drawing/2014/main" id="{D48AAD36-07E7-E8B5-F2B2-22879648F198}"/>
              </a:ext>
            </a:extLst>
          </p:cNvPr>
          <p:cNvSpPr>
            <a:spLocks noGrp="1"/>
          </p:cNvSpPr>
          <p:nvPr>
            <p:ph type="body" sz="quarter" idx="13" hasCustomPrompt="1"/>
          </p:nvPr>
        </p:nvSpPr>
        <p:spPr>
          <a:xfrm>
            <a:off x="838201" y="2065657"/>
            <a:ext cx="8242978" cy="891127"/>
          </a:xfrm>
        </p:spPr>
        <p:txBody>
          <a:bodyPr>
            <a:normAutofit/>
          </a:bodyPr>
          <a:lstStyle>
            <a:lvl1pPr marL="0" indent="0">
              <a:buNone/>
              <a:defRPr sz="4400" cap="all" baseline="0">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GB"/>
              <a:t>Last Name</a:t>
            </a:r>
          </a:p>
        </p:txBody>
      </p:sp>
      <p:sp>
        <p:nvSpPr>
          <p:cNvPr id="25" name="Text Placeholder 14">
            <a:extLst>
              <a:ext uri="{FF2B5EF4-FFF2-40B4-BE49-F238E27FC236}">
                <a16:creationId xmlns:a16="http://schemas.microsoft.com/office/drawing/2014/main" id="{0E60B01F-63F0-D4C8-72AE-20272DBF5D05}"/>
              </a:ext>
            </a:extLst>
          </p:cNvPr>
          <p:cNvSpPr>
            <a:spLocks noGrp="1"/>
          </p:cNvSpPr>
          <p:nvPr>
            <p:ph type="body" sz="quarter" idx="14" hasCustomPrompt="1"/>
          </p:nvPr>
        </p:nvSpPr>
        <p:spPr>
          <a:xfrm>
            <a:off x="838200" y="3702071"/>
            <a:ext cx="8242978" cy="1409329"/>
          </a:xfrm>
        </p:spPr>
        <p:txBody>
          <a:bodyPr>
            <a:normAutofit/>
          </a:bodyPr>
          <a:lstStyle>
            <a:lvl1pPr marL="0" indent="0">
              <a:buNone/>
              <a:defRPr sz="3200" cap="all" baseline="0">
                <a:latin typeface="Noto Sans Light" panose="020B0502040504020204" pitchFamily="34" charset="0"/>
                <a:ea typeface="Noto Sans Light" panose="020B0502040504020204" pitchFamily="34" charset="0"/>
                <a:cs typeface="Noto Sans Light" panose="020B0502040504020204" pitchFamily="34" charset="0"/>
              </a:defRPr>
            </a:lvl1pPr>
          </a:lstStyle>
          <a:p>
            <a:pPr lvl="0"/>
            <a:r>
              <a:rPr lang="it-IT"/>
              <a:t>A</a:t>
            </a:r>
            <a:r>
              <a:rPr lang="en-GB" err="1"/>
              <a:t>ffiliation</a:t>
            </a:r>
            <a:endParaRPr lang="en-GB"/>
          </a:p>
        </p:txBody>
      </p:sp>
    </p:spTree>
    <p:extLst>
      <p:ext uri="{BB962C8B-B14F-4D97-AF65-F5344CB8AC3E}">
        <p14:creationId xmlns:p14="http://schemas.microsoft.com/office/powerpoint/2010/main" val="343143649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D4B68FB-433A-42FC-5E66-4DCEB92CD8CB}"/>
              </a:ext>
            </a:extLst>
          </p:cNvPr>
          <p:cNvSpPr>
            <a:spLocks noGrp="1"/>
          </p:cNvSpPr>
          <p:nvPr>
            <p:ph type="pic" idx="1"/>
          </p:nvPr>
        </p:nvSpPr>
        <p:spPr>
          <a:xfrm>
            <a:off x="9329630" y="0"/>
            <a:ext cx="2862370"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5" name="Date Placeholder 4">
            <a:extLst>
              <a:ext uri="{FF2B5EF4-FFF2-40B4-BE49-F238E27FC236}">
                <a16:creationId xmlns:a16="http://schemas.microsoft.com/office/drawing/2014/main" id="{27BFE630-1E62-1E4D-CF34-9F4CAEB7EBAE}"/>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7" name="Slide Number Placeholder 6">
            <a:extLst>
              <a:ext uri="{FF2B5EF4-FFF2-40B4-BE49-F238E27FC236}">
                <a16:creationId xmlns:a16="http://schemas.microsoft.com/office/drawing/2014/main" id="{FA977354-B5C2-E547-C879-FE2D51C9D678}"/>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10" name="TextBox 9">
            <a:extLst>
              <a:ext uri="{FF2B5EF4-FFF2-40B4-BE49-F238E27FC236}">
                <a16:creationId xmlns:a16="http://schemas.microsoft.com/office/drawing/2014/main" id="{C53C40C1-38AB-A1B8-F39C-A1E7793DBA74}"/>
              </a:ext>
            </a:extLst>
          </p:cNvPr>
          <p:cNvSpPr txBox="1"/>
          <p:nvPr userDrawn="1"/>
        </p:nvSpPr>
        <p:spPr>
          <a:xfrm>
            <a:off x="838200" y="5796829"/>
            <a:ext cx="5355772" cy="523220"/>
          </a:xfrm>
          <a:prstGeom prst="rect">
            <a:avLst/>
          </a:prstGeom>
          <a:noFill/>
        </p:spPr>
        <p:txBody>
          <a:bodyPr wrap="square" rtlCol="0">
            <a:spAutoFit/>
          </a:bodyPr>
          <a:lstStyle/>
          <a:p>
            <a:r>
              <a:rPr lang="it-IT" sz="2800">
                <a:solidFill>
                  <a:srgbClr val="0D4F89"/>
                </a:solidFill>
              </a:rPr>
              <a:t>#EchoesEccch</a:t>
            </a:r>
            <a:endParaRPr lang="en-GB" sz="2800">
              <a:solidFill>
                <a:srgbClr val="0D4F89"/>
              </a:solidFill>
            </a:endParaRPr>
          </a:p>
        </p:txBody>
      </p:sp>
      <p:sp>
        <p:nvSpPr>
          <p:cNvPr id="11" name="Title 1">
            <a:extLst>
              <a:ext uri="{FF2B5EF4-FFF2-40B4-BE49-F238E27FC236}">
                <a16:creationId xmlns:a16="http://schemas.microsoft.com/office/drawing/2014/main" id="{4D3FC06F-09D5-F719-7FCF-9622758C80E6}"/>
              </a:ext>
            </a:extLst>
          </p:cNvPr>
          <p:cNvSpPr>
            <a:spLocks noGrp="1"/>
          </p:cNvSpPr>
          <p:nvPr>
            <p:ph type="title" hasCustomPrompt="1"/>
          </p:nvPr>
        </p:nvSpPr>
        <p:spPr>
          <a:xfrm>
            <a:off x="838200" y="1070830"/>
            <a:ext cx="8242978"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First Name</a:t>
            </a:r>
          </a:p>
        </p:txBody>
      </p:sp>
      <p:sp>
        <p:nvSpPr>
          <p:cNvPr id="12" name="Text Placeholder 12">
            <a:extLst>
              <a:ext uri="{FF2B5EF4-FFF2-40B4-BE49-F238E27FC236}">
                <a16:creationId xmlns:a16="http://schemas.microsoft.com/office/drawing/2014/main" id="{31020A44-3677-7FCC-59AE-8585A33A3DDD}"/>
              </a:ext>
            </a:extLst>
          </p:cNvPr>
          <p:cNvSpPr>
            <a:spLocks noGrp="1"/>
          </p:cNvSpPr>
          <p:nvPr>
            <p:ph type="body" sz="quarter" idx="13" hasCustomPrompt="1"/>
          </p:nvPr>
        </p:nvSpPr>
        <p:spPr>
          <a:xfrm>
            <a:off x="838201" y="2065657"/>
            <a:ext cx="8242978" cy="891127"/>
          </a:xfrm>
        </p:spPr>
        <p:txBody>
          <a:bodyPr>
            <a:normAutofit/>
          </a:bodyPr>
          <a:lstStyle>
            <a:lvl1pPr marL="0" indent="0">
              <a:buNone/>
              <a:defRPr sz="4400" cap="all" baseline="0">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GB"/>
              <a:t>Last Name</a:t>
            </a:r>
          </a:p>
        </p:txBody>
      </p:sp>
      <p:sp>
        <p:nvSpPr>
          <p:cNvPr id="13" name="Text Placeholder 14">
            <a:extLst>
              <a:ext uri="{FF2B5EF4-FFF2-40B4-BE49-F238E27FC236}">
                <a16:creationId xmlns:a16="http://schemas.microsoft.com/office/drawing/2014/main" id="{E002BDDE-21A5-1CB2-B288-E401D3AEBA71}"/>
              </a:ext>
            </a:extLst>
          </p:cNvPr>
          <p:cNvSpPr>
            <a:spLocks noGrp="1"/>
          </p:cNvSpPr>
          <p:nvPr>
            <p:ph type="body" sz="quarter" idx="14" hasCustomPrompt="1"/>
          </p:nvPr>
        </p:nvSpPr>
        <p:spPr>
          <a:xfrm>
            <a:off x="838200" y="3702071"/>
            <a:ext cx="8242978" cy="1409329"/>
          </a:xfrm>
        </p:spPr>
        <p:txBody>
          <a:bodyPr>
            <a:normAutofit/>
          </a:bodyPr>
          <a:lstStyle>
            <a:lvl1pPr marL="0" indent="0">
              <a:buNone/>
              <a:defRPr sz="3200" cap="all" baseline="0">
                <a:latin typeface="Noto Sans Light" panose="020B0502040504020204" pitchFamily="34" charset="0"/>
                <a:ea typeface="Noto Sans Light" panose="020B0502040504020204" pitchFamily="34" charset="0"/>
                <a:cs typeface="Noto Sans Light" panose="020B0502040504020204" pitchFamily="34" charset="0"/>
              </a:defRPr>
            </a:lvl1pPr>
          </a:lstStyle>
          <a:p>
            <a:pPr lvl="0"/>
            <a:r>
              <a:rPr lang="it-IT"/>
              <a:t>A</a:t>
            </a:r>
            <a:r>
              <a:rPr lang="en-GB" err="1"/>
              <a:t>ffiliation</a:t>
            </a:r>
            <a:endParaRPr lang="en-GB"/>
          </a:p>
        </p:txBody>
      </p:sp>
    </p:spTree>
    <p:extLst>
      <p:ext uri="{BB962C8B-B14F-4D97-AF65-F5344CB8AC3E}">
        <p14:creationId xmlns:p14="http://schemas.microsoft.com/office/powerpoint/2010/main" val="4227187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9E813CB-6947-4EAE-2C6C-819D0F5D833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82179094-B562-AFCE-DCA8-DFCCE88126C2}"/>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5" name="Slide Number Placeholder 4">
            <a:extLst>
              <a:ext uri="{FF2B5EF4-FFF2-40B4-BE49-F238E27FC236}">
                <a16:creationId xmlns:a16="http://schemas.microsoft.com/office/drawing/2014/main" id="{394BA684-A54F-6D3C-4EC3-744B16892C4F}"/>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9" name="Title 1">
            <a:extLst>
              <a:ext uri="{FF2B5EF4-FFF2-40B4-BE49-F238E27FC236}">
                <a16:creationId xmlns:a16="http://schemas.microsoft.com/office/drawing/2014/main" id="{326620D2-4ACE-6781-0AB3-8A25CF477509}"/>
              </a:ext>
            </a:extLst>
          </p:cNvPr>
          <p:cNvSpPr>
            <a:spLocks noGrp="1"/>
          </p:cNvSpPr>
          <p:nvPr>
            <p:ph type="title" hasCustomPrompt="1"/>
          </p:nvPr>
        </p:nvSpPr>
        <p:spPr>
          <a:xfrm>
            <a:off x="838202" y="1503965"/>
            <a:ext cx="5257798"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First Name</a:t>
            </a:r>
          </a:p>
        </p:txBody>
      </p:sp>
      <p:sp>
        <p:nvSpPr>
          <p:cNvPr id="13" name="Text Placeholder 12">
            <a:extLst>
              <a:ext uri="{FF2B5EF4-FFF2-40B4-BE49-F238E27FC236}">
                <a16:creationId xmlns:a16="http://schemas.microsoft.com/office/drawing/2014/main" id="{ACB61E26-98B2-1003-FDAD-E71E8B90EE93}"/>
              </a:ext>
            </a:extLst>
          </p:cNvPr>
          <p:cNvSpPr>
            <a:spLocks noGrp="1"/>
          </p:cNvSpPr>
          <p:nvPr>
            <p:ph type="body" sz="quarter" idx="13" hasCustomPrompt="1"/>
          </p:nvPr>
        </p:nvSpPr>
        <p:spPr>
          <a:xfrm>
            <a:off x="838203" y="2498792"/>
            <a:ext cx="5257798" cy="891127"/>
          </a:xfrm>
        </p:spPr>
        <p:txBody>
          <a:bodyPr>
            <a:normAutofit/>
          </a:bodyPr>
          <a:lstStyle>
            <a:lvl1pPr marL="0" indent="0">
              <a:buNone/>
              <a:defRPr sz="4400" cap="all" baseline="0">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GB"/>
              <a:t>Last Name</a:t>
            </a:r>
          </a:p>
        </p:txBody>
      </p:sp>
      <p:sp>
        <p:nvSpPr>
          <p:cNvPr id="15" name="Text Placeholder 14">
            <a:extLst>
              <a:ext uri="{FF2B5EF4-FFF2-40B4-BE49-F238E27FC236}">
                <a16:creationId xmlns:a16="http://schemas.microsoft.com/office/drawing/2014/main" id="{6568AB21-E6AC-C031-72A2-52669B4AE945}"/>
              </a:ext>
            </a:extLst>
          </p:cNvPr>
          <p:cNvSpPr>
            <a:spLocks noGrp="1"/>
          </p:cNvSpPr>
          <p:nvPr>
            <p:ph type="body" sz="quarter" idx="14" hasCustomPrompt="1"/>
          </p:nvPr>
        </p:nvSpPr>
        <p:spPr>
          <a:xfrm>
            <a:off x="838200" y="3839573"/>
            <a:ext cx="8298925" cy="1409329"/>
          </a:xfrm>
        </p:spPr>
        <p:txBody>
          <a:bodyPr>
            <a:normAutofit/>
          </a:bodyPr>
          <a:lstStyle>
            <a:lvl1pPr marL="0" indent="0">
              <a:buNone/>
              <a:defRPr sz="3200" cap="all" baseline="0">
                <a:latin typeface="Noto Sans Light" panose="020B0502040504020204" pitchFamily="34" charset="0"/>
                <a:ea typeface="Noto Sans Light" panose="020B0502040504020204" pitchFamily="34" charset="0"/>
                <a:cs typeface="Noto Sans Light" panose="020B0502040504020204" pitchFamily="34" charset="0"/>
              </a:defRPr>
            </a:lvl1pPr>
          </a:lstStyle>
          <a:p>
            <a:pPr lvl="0"/>
            <a:r>
              <a:rPr lang="it-IT"/>
              <a:t>A</a:t>
            </a:r>
            <a:r>
              <a:rPr lang="en-GB" err="1"/>
              <a:t>ffiliation</a:t>
            </a:r>
            <a:endParaRPr lang="en-GB"/>
          </a:p>
        </p:txBody>
      </p:sp>
      <p:pic>
        <p:nvPicPr>
          <p:cNvPr id="20" name="Picture 19" descr="A blue letters on a black background&#10;&#10;Description automatically generated">
            <a:extLst>
              <a:ext uri="{FF2B5EF4-FFF2-40B4-BE49-F238E27FC236}">
                <a16:creationId xmlns:a16="http://schemas.microsoft.com/office/drawing/2014/main" id="{29DBC83E-0557-FC76-7F09-97C5659BB80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1126" y="285008"/>
            <a:ext cx="2007715" cy="432000"/>
          </a:xfrm>
          <a:prstGeom prst="rect">
            <a:avLst/>
          </a:prstGeom>
        </p:spPr>
      </p:pic>
    </p:spTree>
    <p:extLst>
      <p:ext uri="{BB962C8B-B14F-4D97-AF65-F5344CB8AC3E}">
        <p14:creationId xmlns:p14="http://schemas.microsoft.com/office/powerpoint/2010/main" val="155463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724C26-CBFE-E50F-B590-81148EE1E9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
            <a:ext cx="12192000" cy="6857999"/>
          </a:xfrm>
          <a:prstGeom prst="rect">
            <a:avLst/>
          </a:prstGeom>
        </p:spPr>
      </p:pic>
      <p:pic>
        <p:nvPicPr>
          <p:cNvPr id="7" name="Picture 6">
            <a:extLst>
              <a:ext uri="{FF2B5EF4-FFF2-40B4-BE49-F238E27FC236}">
                <a16:creationId xmlns:a16="http://schemas.microsoft.com/office/drawing/2014/main" id="{0110D9C4-4DDE-5D12-55DD-24EEB67BB9A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78934" y="5501545"/>
            <a:ext cx="7168321" cy="1230341"/>
          </a:xfrm>
          <a:prstGeom prst="rect">
            <a:avLst/>
          </a:prstGeom>
        </p:spPr>
      </p:pic>
      <p:pic>
        <p:nvPicPr>
          <p:cNvPr id="4" name="Picture 3" descr="A blue letters on a black background&#10;&#10;Description automatically generated">
            <a:extLst>
              <a:ext uri="{FF2B5EF4-FFF2-40B4-BE49-F238E27FC236}">
                <a16:creationId xmlns:a16="http://schemas.microsoft.com/office/drawing/2014/main" id="{254D431E-2FB5-D658-BC4A-76C14C2DC31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1126" y="285008"/>
            <a:ext cx="2007715" cy="432000"/>
          </a:xfrm>
          <a:prstGeom prst="rect">
            <a:avLst/>
          </a:prstGeom>
        </p:spPr>
      </p:pic>
      <p:sp>
        <p:nvSpPr>
          <p:cNvPr id="8" name="Flowchart: Delay 7">
            <a:extLst>
              <a:ext uri="{FF2B5EF4-FFF2-40B4-BE49-F238E27FC236}">
                <a16:creationId xmlns:a16="http://schemas.microsoft.com/office/drawing/2014/main" id="{7CE7668D-D5CC-6A4D-DA81-C3D5F0657E9A}"/>
              </a:ext>
            </a:extLst>
          </p:cNvPr>
          <p:cNvSpPr/>
          <p:nvPr userDrawn="1"/>
        </p:nvSpPr>
        <p:spPr>
          <a:xfrm>
            <a:off x="4943260" y="904945"/>
            <a:ext cx="625839" cy="608456"/>
          </a:xfrm>
          <a:prstGeom prst="flowChartDelay">
            <a:avLst/>
          </a:prstGeom>
          <a:solidFill>
            <a:srgbClr val="124E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C7CE1A3F-3154-AEFC-52B5-EC061E9994EA}"/>
              </a:ext>
            </a:extLst>
          </p:cNvPr>
          <p:cNvSpPr/>
          <p:nvPr userDrawn="1"/>
        </p:nvSpPr>
        <p:spPr>
          <a:xfrm>
            <a:off x="-1" y="904945"/>
            <a:ext cx="4943261" cy="608456"/>
          </a:xfrm>
          <a:prstGeom prst="rect">
            <a:avLst/>
          </a:prstGeom>
          <a:solidFill>
            <a:srgbClr val="124E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tle 1">
            <a:extLst>
              <a:ext uri="{FF2B5EF4-FFF2-40B4-BE49-F238E27FC236}">
                <a16:creationId xmlns:a16="http://schemas.microsoft.com/office/drawing/2014/main" id="{9F1C08B6-1B4F-EE6F-1493-9ADA46F4AC84}"/>
              </a:ext>
            </a:extLst>
          </p:cNvPr>
          <p:cNvSpPr>
            <a:spLocks noGrp="1"/>
          </p:cNvSpPr>
          <p:nvPr>
            <p:ph type="title" hasCustomPrompt="1"/>
          </p:nvPr>
        </p:nvSpPr>
        <p:spPr>
          <a:xfrm>
            <a:off x="267194" y="904946"/>
            <a:ext cx="4676066" cy="608456"/>
          </a:xfrm>
        </p:spPr>
        <p:txBody>
          <a:bodyPr>
            <a:noAutofit/>
          </a:bodyPr>
          <a:lstStyle>
            <a:lvl1pPr>
              <a:defRPr sz="2800" cap="all" baseline="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it-IT"/>
              <a:t>Title</a:t>
            </a:r>
            <a:endParaRPr lang="en-GB"/>
          </a:p>
        </p:txBody>
      </p:sp>
      <p:sp>
        <p:nvSpPr>
          <p:cNvPr id="13" name="Title 1">
            <a:extLst>
              <a:ext uri="{FF2B5EF4-FFF2-40B4-BE49-F238E27FC236}">
                <a16:creationId xmlns:a16="http://schemas.microsoft.com/office/drawing/2014/main" id="{3CCBD35C-AEC1-34BB-B091-1B42BB859194}"/>
              </a:ext>
            </a:extLst>
          </p:cNvPr>
          <p:cNvSpPr txBox="1">
            <a:spLocks/>
          </p:cNvSpPr>
          <p:nvPr userDrawn="1"/>
        </p:nvSpPr>
        <p:spPr>
          <a:xfrm>
            <a:off x="9178377" y="5244336"/>
            <a:ext cx="2743199" cy="60845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cap="all" baseline="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endParaRPr lang="en-GB" sz="2400" cap="none" baseline="0"/>
          </a:p>
        </p:txBody>
      </p:sp>
      <p:sp>
        <p:nvSpPr>
          <p:cNvPr id="15" name="Text Placeholder 14">
            <a:extLst>
              <a:ext uri="{FF2B5EF4-FFF2-40B4-BE49-F238E27FC236}">
                <a16:creationId xmlns:a16="http://schemas.microsoft.com/office/drawing/2014/main" id="{1EA19A0A-9103-C860-5724-E2F50A0BD605}"/>
              </a:ext>
            </a:extLst>
          </p:cNvPr>
          <p:cNvSpPr>
            <a:spLocks noGrp="1"/>
          </p:cNvSpPr>
          <p:nvPr>
            <p:ph type="body" sz="quarter" idx="13" hasCustomPrompt="1"/>
          </p:nvPr>
        </p:nvSpPr>
        <p:spPr>
          <a:xfrm>
            <a:off x="9443957" y="5198358"/>
            <a:ext cx="2212037" cy="555625"/>
          </a:xfrm>
        </p:spPr>
        <p:txBody>
          <a:bodyPr/>
          <a:lstStyle>
            <a:lvl1pPr marL="0" indent="0">
              <a:buNone/>
              <a:defRPr>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it-IT"/>
              <a:t>Date</a:t>
            </a:r>
            <a:endParaRPr lang="en-GB"/>
          </a:p>
        </p:txBody>
      </p:sp>
    </p:spTree>
    <p:extLst>
      <p:ext uri="{BB962C8B-B14F-4D97-AF65-F5344CB8AC3E}">
        <p14:creationId xmlns:p14="http://schemas.microsoft.com/office/powerpoint/2010/main" val="3554538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724C26-CBFE-E50F-B590-81148EE1E9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
            <a:ext cx="12192000" cy="6857999"/>
          </a:xfrm>
          <a:prstGeom prst="rect">
            <a:avLst/>
          </a:prstGeom>
        </p:spPr>
      </p:pic>
      <p:sp>
        <p:nvSpPr>
          <p:cNvPr id="3" name="Date Placeholder 2">
            <a:extLst>
              <a:ext uri="{FF2B5EF4-FFF2-40B4-BE49-F238E27FC236}">
                <a16:creationId xmlns:a16="http://schemas.microsoft.com/office/drawing/2014/main" id="{82179094-B562-AFCE-DCA8-DFCCE88126C2}"/>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5" name="Slide Number Placeholder 4">
            <a:extLst>
              <a:ext uri="{FF2B5EF4-FFF2-40B4-BE49-F238E27FC236}">
                <a16:creationId xmlns:a16="http://schemas.microsoft.com/office/drawing/2014/main" id="{394BA684-A54F-6D3C-4EC3-744B16892C4F}"/>
              </a:ext>
            </a:extLst>
          </p:cNvPr>
          <p:cNvSpPr>
            <a:spLocks noGrp="1"/>
          </p:cNvSpPr>
          <p:nvPr>
            <p:ph type="sldNum" sz="quarter" idx="12"/>
          </p:nvPr>
        </p:nvSpPr>
        <p:spPr/>
        <p:txBody>
          <a:bodyPr/>
          <a:lstStyle/>
          <a:p>
            <a:fld id="{E88438AD-B679-4B70-A0F6-D6FFB61026A2}" type="slidenum">
              <a:rPr lang="en-GB" smtClean="0"/>
              <a:t>‹#›</a:t>
            </a:fld>
            <a:endParaRPr lang="en-GB"/>
          </a:p>
        </p:txBody>
      </p:sp>
      <p:pic>
        <p:nvPicPr>
          <p:cNvPr id="7" name="Picture 6">
            <a:extLst>
              <a:ext uri="{FF2B5EF4-FFF2-40B4-BE49-F238E27FC236}">
                <a16:creationId xmlns:a16="http://schemas.microsoft.com/office/drawing/2014/main" id="{0110D9C4-4DDE-5D12-55DD-24EEB67BB9A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12585" y="4867637"/>
            <a:ext cx="8673668" cy="1488713"/>
          </a:xfrm>
          <a:prstGeom prst="rect">
            <a:avLst/>
          </a:prstGeom>
        </p:spPr>
      </p:pic>
      <p:pic>
        <p:nvPicPr>
          <p:cNvPr id="4" name="Picture 3" descr="A blue letters on a black background&#10;&#10;Description automatically generated">
            <a:extLst>
              <a:ext uri="{FF2B5EF4-FFF2-40B4-BE49-F238E27FC236}">
                <a16:creationId xmlns:a16="http://schemas.microsoft.com/office/drawing/2014/main" id="{254D431E-2FB5-D658-BC4A-76C14C2DC31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1126" y="285008"/>
            <a:ext cx="2007715" cy="432000"/>
          </a:xfrm>
          <a:prstGeom prst="rect">
            <a:avLst/>
          </a:prstGeom>
        </p:spPr>
      </p:pic>
      <p:sp>
        <p:nvSpPr>
          <p:cNvPr id="13" name="Title 1">
            <a:extLst>
              <a:ext uri="{FF2B5EF4-FFF2-40B4-BE49-F238E27FC236}">
                <a16:creationId xmlns:a16="http://schemas.microsoft.com/office/drawing/2014/main" id="{3CCBD35C-AEC1-34BB-B091-1B42BB859194}"/>
              </a:ext>
            </a:extLst>
          </p:cNvPr>
          <p:cNvSpPr txBox="1">
            <a:spLocks/>
          </p:cNvSpPr>
          <p:nvPr userDrawn="1"/>
        </p:nvSpPr>
        <p:spPr>
          <a:xfrm>
            <a:off x="9178377" y="5244336"/>
            <a:ext cx="2743199" cy="60845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cap="all" baseline="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endParaRPr lang="en-GB" sz="2400" cap="none" baseline="0"/>
          </a:p>
        </p:txBody>
      </p:sp>
    </p:spTree>
    <p:extLst>
      <p:ext uri="{BB962C8B-B14F-4D97-AF65-F5344CB8AC3E}">
        <p14:creationId xmlns:p14="http://schemas.microsoft.com/office/powerpoint/2010/main" val="243926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162F2E-85C3-C207-8800-96CC66B15D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BB91BC13-2846-BA40-0975-B02B98DB3D90}"/>
              </a:ext>
            </a:extLst>
          </p:cNvPr>
          <p:cNvSpPr>
            <a:spLocks noGrp="1"/>
          </p:cNvSpPr>
          <p:nvPr>
            <p:ph type="title" hasCustomPrompt="1"/>
          </p:nvPr>
        </p:nvSpPr>
        <p:spPr>
          <a:xfrm>
            <a:off x="838200" y="2537873"/>
            <a:ext cx="10515600" cy="891127"/>
          </a:xfrm>
        </p:spPr>
        <p:txBody>
          <a:bodyPr/>
          <a:lstStyle/>
          <a:p>
            <a:r>
              <a:rPr lang="en-GB"/>
              <a:t>Click to edit title</a:t>
            </a:r>
          </a:p>
        </p:txBody>
      </p:sp>
      <p:sp>
        <p:nvSpPr>
          <p:cNvPr id="3" name="Date Placeholder 2">
            <a:extLst>
              <a:ext uri="{FF2B5EF4-FFF2-40B4-BE49-F238E27FC236}">
                <a16:creationId xmlns:a16="http://schemas.microsoft.com/office/drawing/2014/main" id="{82179094-B562-AFCE-DCA8-DFCCE88126C2}"/>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5" name="Slide Number Placeholder 4">
            <a:extLst>
              <a:ext uri="{FF2B5EF4-FFF2-40B4-BE49-F238E27FC236}">
                <a16:creationId xmlns:a16="http://schemas.microsoft.com/office/drawing/2014/main" id="{394BA684-A54F-6D3C-4EC3-744B16892C4F}"/>
              </a:ext>
            </a:extLst>
          </p:cNvPr>
          <p:cNvSpPr>
            <a:spLocks noGrp="1"/>
          </p:cNvSpPr>
          <p:nvPr>
            <p:ph type="sldNum" sz="quarter" idx="12"/>
          </p:nvPr>
        </p:nvSpPr>
        <p:spPr/>
        <p:txBody>
          <a:bodyPr/>
          <a:lstStyle/>
          <a:p>
            <a:fld id="{E88438AD-B679-4B70-A0F6-D6FFB61026A2}" type="slidenum">
              <a:rPr lang="en-GB" smtClean="0"/>
              <a:t>‹#›</a:t>
            </a:fld>
            <a:endParaRPr lang="en-GB"/>
          </a:p>
        </p:txBody>
      </p:sp>
      <p:pic>
        <p:nvPicPr>
          <p:cNvPr id="7" name="Picture 6">
            <a:extLst>
              <a:ext uri="{FF2B5EF4-FFF2-40B4-BE49-F238E27FC236}">
                <a16:creationId xmlns:a16="http://schemas.microsoft.com/office/drawing/2014/main" id="{0110D9C4-4DDE-5D12-55DD-24EEB67BB9A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38202" y="3887440"/>
            <a:ext cx="10515595" cy="1801342"/>
          </a:xfrm>
          <a:prstGeom prst="rect">
            <a:avLst/>
          </a:prstGeom>
        </p:spPr>
      </p:pic>
      <p:sp>
        <p:nvSpPr>
          <p:cNvPr id="8" name="TextBox 7">
            <a:extLst>
              <a:ext uri="{FF2B5EF4-FFF2-40B4-BE49-F238E27FC236}">
                <a16:creationId xmlns:a16="http://schemas.microsoft.com/office/drawing/2014/main" id="{92AC3C2B-52E7-E52D-13B6-5C4658690536}"/>
              </a:ext>
            </a:extLst>
          </p:cNvPr>
          <p:cNvSpPr txBox="1"/>
          <p:nvPr userDrawn="1"/>
        </p:nvSpPr>
        <p:spPr>
          <a:xfrm>
            <a:off x="1179442" y="5678202"/>
            <a:ext cx="9819861" cy="430887"/>
          </a:xfrm>
          <a:prstGeom prst="rect">
            <a:avLst/>
          </a:prstGeom>
          <a:noFill/>
        </p:spPr>
        <p:txBody>
          <a:bodyPr wrap="square" rtlCol="0">
            <a:spAutoFit/>
          </a:bodyPr>
          <a:lstStyle/>
          <a:p>
            <a:r>
              <a:rPr lang="en-GB" sz="1100">
                <a:effectLst/>
                <a:latin typeface="Noto Sans Light" panose="020B0502040504020204" pitchFamily="34" charset="0"/>
                <a:ea typeface="Noto Sans Light" panose="020B0502040504020204" pitchFamily="34" charset="0"/>
                <a:cs typeface="Noto Sans Light" panose="020B0502040504020204" pitchFamily="34" charset="0"/>
              </a:rPr>
              <a:t>Views and opinions expressed are however those of the author(s) only and do not necessarily reflect those of the European Union or the European Research Executive Agency. Neither the European Union nor the granting authority can be held responsible for them.</a:t>
            </a:r>
            <a:endParaRPr lang="en-GB" sz="1100">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6" name="Picture 5" descr="A blue letters on a black background&#10;&#10;Description automatically generated">
            <a:extLst>
              <a:ext uri="{FF2B5EF4-FFF2-40B4-BE49-F238E27FC236}">
                <a16:creationId xmlns:a16="http://schemas.microsoft.com/office/drawing/2014/main" id="{CFFA182F-9A55-28E0-250B-224A04BE1F1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1126" y="285008"/>
            <a:ext cx="2007715" cy="432000"/>
          </a:xfrm>
          <a:prstGeom prst="rect">
            <a:avLst/>
          </a:prstGeom>
        </p:spPr>
      </p:pic>
    </p:spTree>
    <p:extLst>
      <p:ext uri="{BB962C8B-B14F-4D97-AF65-F5344CB8AC3E}">
        <p14:creationId xmlns:p14="http://schemas.microsoft.com/office/powerpoint/2010/main" val="557543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82CC5D-F6DF-ECF0-3FF8-8E0D2E8722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7" cy="6857998"/>
          </a:xfrm>
          <a:prstGeom prst="rect">
            <a:avLst/>
          </a:prstGeom>
        </p:spPr>
      </p:pic>
      <p:sp>
        <p:nvSpPr>
          <p:cNvPr id="2" name="Title 1">
            <a:extLst>
              <a:ext uri="{FF2B5EF4-FFF2-40B4-BE49-F238E27FC236}">
                <a16:creationId xmlns:a16="http://schemas.microsoft.com/office/drawing/2014/main" id="{5899CD19-32AF-9450-85E1-4CC0F19E1004}"/>
              </a:ext>
            </a:extLst>
          </p:cNvPr>
          <p:cNvSpPr>
            <a:spLocks noGrp="1"/>
          </p:cNvSpPr>
          <p:nvPr>
            <p:ph type="ctrTitle" hasCustomPrompt="1"/>
          </p:nvPr>
        </p:nvSpPr>
        <p:spPr>
          <a:xfrm>
            <a:off x="1524000" y="1122363"/>
            <a:ext cx="9144000" cy="2387600"/>
          </a:xfrm>
        </p:spPr>
        <p:txBody>
          <a:bodyPr anchor="b"/>
          <a:lstStyle>
            <a:lvl1pPr algn="ctr">
              <a:defRPr sz="6000">
                <a:latin typeface="+mj-lt"/>
                <a:ea typeface="Noto Sans SemiBold" panose="020B0502040504020204" pitchFamily="34" charset="0"/>
                <a:cs typeface="Arial" panose="020B0604020202020204" pitchFamily="34" charset="0"/>
              </a:defRPr>
            </a:lvl1pPr>
          </a:lstStyle>
          <a:p>
            <a:r>
              <a:rPr lang="en-GB"/>
              <a:t>Click to add title</a:t>
            </a:r>
          </a:p>
        </p:txBody>
      </p:sp>
      <p:sp>
        <p:nvSpPr>
          <p:cNvPr id="3" name="Subtitle 2">
            <a:extLst>
              <a:ext uri="{FF2B5EF4-FFF2-40B4-BE49-F238E27FC236}">
                <a16:creationId xmlns:a16="http://schemas.microsoft.com/office/drawing/2014/main" id="{8C688046-EDE5-7DEA-8B12-E2A58F50B2B0}"/>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subtitle</a:t>
            </a:r>
          </a:p>
        </p:txBody>
      </p:sp>
      <p:sp>
        <p:nvSpPr>
          <p:cNvPr id="4" name="Date Placeholder 3">
            <a:extLst>
              <a:ext uri="{FF2B5EF4-FFF2-40B4-BE49-F238E27FC236}">
                <a16:creationId xmlns:a16="http://schemas.microsoft.com/office/drawing/2014/main" id="{BE8FFABE-AB99-A917-B755-4F8236F39FF5}"/>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6" name="Slide Number Placeholder 5">
            <a:extLst>
              <a:ext uri="{FF2B5EF4-FFF2-40B4-BE49-F238E27FC236}">
                <a16:creationId xmlns:a16="http://schemas.microsoft.com/office/drawing/2014/main" id="{68FC4B29-99CC-1951-694C-F1930548B4E9}"/>
              </a:ext>
            </a:extLst>
          </p:cNvPr>
          <p:cNvSpPr>
            <a:spLocks noGrp="1"/>
          </p:cNvSpPr>
          <p:nvPr>
            <p:ph type="sldNum" sz="quarter" idx="12"/>
          </p:nvPr>
        </p:nvSpPr>
        <p:spPr/>
        <p:txBody>
          <a:bodyPr/>
          <a:lstStyle/>
          <a:p>
            <a:fld id="{E88438AD-B679-4B70-A0F6-D6FFB61026A2}" type="slidenum">
              <a:rPr lang="en-GB" smtClean="0"/>
              <a:t>‹#›</a:t>
            </a:fld>
            <a:endParaRPr lang="en-GB"/>
          </a:p>
        </p:txBody>
      </p:sp>
      <p:pic>
        <p:nvPicPr>
          <p:cNvPr id="7" name="Picture 6">
            <a:extLst>
              <a:ext uri="{FF2B5EF4-FFF2-40B4-BE49-F238E27FC236}">
                <a16:creationId xmlns:a16="http://schemas.microsoft.com/office/drawing/2014/main" id="{A7AEE8AA-4628-94CA-E3E6-52C5A36A7CC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126" y="342825"/>
            <a:ext cx="2007715" cy="316366"/>
          </a:xfrm>
          <a:prstGeom prst="rect">
            <a:avLst/>
          </a:prstGeom>
        </p:spPr>
      </p:pic>
    </p:spTree>
    <p:extLst>
      <p:ext uri="{BB962C8B-B14F-4D97-AF65-F5344CB8AC3E}">
        <p14:creationId xmlns:p14="http://schemas.microsoft.com/office/powerpoint/2010/main" val="3997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9EC0CF-A51A-FC05-EF56-AF048F6441C5}"/>
              </a:ext>
            </a:extLst>
          </p:cNvPr>
          <p:cNvSpPr>
            <a:spLocks noGrp="1"/>
          </p:cNvSpPr>
          <p:nvPr>
            <p:ph idx="1"/>
          </p:nvPr>
        </p:nvSpPr>
        <p:spPr>
          <a:xfrm>
            <a:off x="838200" y="1676938"/>
            <a:ext cx="10515600" cy="4500025"/>
          </a:xfrm>
        </p:spPr>
        <p:txBody>
          <a:bodyPr>
            <a:normAutofit/>
          </a:bodyPr>
          <a:lstStyle>
            <a:lvl1pPr>
              <a:lnSpc>
                <a:spcPct val="120000"/>
              </a:lnSpc>
              <a:defRPr sz="2000"/>
            </a:lvl1pPr>
            <a:lvl2pPr>
              <a:lnSpc>
                <a:spcPct val="120000"/>
              </a:lnSpc>
              <a:defRPr sz="1800"/>
            </a:lvl2pPr>
            <a:lvl3pPr>
              <a:lnSpc>
                <a:spcPct val="120000"/>
              </a:lnSpc>
              <a:defRPr sz="1600"/>
            </a:lvl3pPr>
            <a:lvl4pPr>
              <a:lnSpc>
                <a:spcPct val="120000"/>
              </a:lnSpc>
              <a:defRPr sz="1600"/>
            </a:lvl4pPr>
            <a:lvl5pPr>
              <a:lnSpc>
                <a:spcPct val="120000"/>
              </a:lnSpc>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4A0EBD-10A0-B0EC-820A-F84749B59407}"/>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6" name="Slide Number Placeholder 5">
            <a:extLst>
              <a:ext uri="{FF2B5EF4-FFF2-40B4-BE49-F238E27FC236}">
                <a16:creationId xmlns:a16="http://schemas.microsoft.com/office/drawing/2014/main" id="{84EFCC63-57D9-E620-47F3-C06D0D0C7133}"/>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7" name="Title 1">
            <a:extLst>
              <a:ext uri="{FF2B5EF4-FFF2-40B4-BE49-F238E27FC236}">
                <a16:creationId xmlns:a16="http://schemas.microsoft.com/office/drawing/2014/main" id="{42484B54-DEFA-DEE0-B49B-5096D5C68A3B}"/>
              </a:ext>
            </a:extLst>
          </p:cNvPr>
          <p:cNvSpPr>
            <a:spLocks noGrp="1"/>
          </p:cNvSpPr>
          <p:nvPr>
            <p:ph type="title" hasCustomPrompt="1"/>
          </p:nvPr>
        </p:nvSpPr>
        <p:spPr>
          <a:xfrm>
            <a:off x="838200" y="785811"/>
            <a:ext cx="10515600" cy="891127"/>
          </a:xfrm>
        </p:spPr>
        <p:txBody>
          <a:bodyPr/>
          <a:lstStyle>
            <a:lvl1pPr>
              <a:defRPr>
                <a:latin typeface="+mj-lt"/>
                <a:ea typeface="Noto Sans SemiBold" panose="020B0502040504020204" pitchFamily="34" charset="0"/>
                <a:cs typeface="Arial" panose="020B0604020202020204" pitchFamily="34" charset="0"/>
              </a:defRPr>
            </a:lvl1pPr>
          </a:lstStyle>
          <a:p>
            <a:r>
              <a:rPr lang="en-GB"/>
              <a:t>Click to edit title</a:t>
            </a:r>
          </a:p>
        </p:txBody>
      </p:sp>
    </p:spTree>
    <p:extLst>
      <p:ext uri="{BB962C8B-B14F-4D97-AF65-F5344CB8AC3E}">
        <p14:creationId xmlns:p14="http://schemas.microsoft.com/office/powerpoint/2010/main" val="792892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F9F9F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7361A9-4041-1976-93EC-29105353F6F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5" name="Date Placeholder 4">
            <a:extLst>
              <a:ext uri="{FF2B5EF4-FFF2-40B4-BE49-F238E27FC236}">
                <a16:creationId xmlns:a16="http://schemas.microsoft.com/office/drawing/2014/main" id="{6D259CC3-3A1F-27CF-A198-40A5ACA74630}"/>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7" name="Slide Number Placeholder 6">
            <a:extLst>
              <a:ext uri="{FF2B5EF4-FFF2-40B4-BE49-F238E27FC236}">
                <a16:creationId xmlns:a16="http://schemas.microsoft.com/office/drawing/2014/main" id="{06E571AE-A7A9-6674-992C-BED2F7533D44}"/>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2" name="Picture Placeholder 2">
            <a:extLst>
              <a:ext uri="{FF2B5EF4-FFF2-40B4-BE49-F238E27FC236}">
                <a16:creationId xmlns:a16="http://schemas.microsoft.com/office/drawing/2014/main" id="{D706C35D-FB3A-BD6C-1B99-63FC63AA5A2C}"/>
              </a:ext>
            </a:extLst>
          </p:cNvPr>
          <p:cNvSpPr>
            <a:spLocks noGrp="1"/>
          </p:cNvSpPr>
          <p:nvPr>
            <p:ph type="pic" idx="1"/>
          </p:nvPr>
        </p:nvSpPr>
        <p:spPr>
          <a:xfrm>
            <a:off x="9329630" y="0"/>
            <a:ext cx="2862370"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6" name="Text Placeholder 3">
            <a:extLst>
              <a:ext uri="{FF2B5EF4-FFF2-40B4-BE49-F238E27FC236}">
                <a16:creationId xmlns:a16="http://schemas.microsoft.com/office/drawing/2014/main" id="{1468BEF7-7065-5AD7-B494-28E1CF239531}"/>
              </a:ext>
            </a:extLst>
          </p:cNvPr>
          <p:cNvSpPr>
            <a:spLocks noGrp="1"/>
          </p:cNvSpPr>
          <p:nvPr>
            <p:ph type="body" sz="half" idx="2"/>
          </p:nvPr>
        </p:nvSpPr>
        <p:spPr>
          <a:xfrm>
            <a:off x="839788" y="1690688"/>
            <a:ext cx="7770812" cy="417829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10" name="Title 1">
            <a:extLst>
              <a:ext uri="{FF2B5EF4-FFF2-40B4-BE49-F238E27FC236}">
                <a16:creationId xmlns:a16="http://schemas.microsoft.com/office/drawing/2014/main" id="{0F3D6BC1-4139-8223-78BC-8627330503FC}"/>
              </a:ext>
            </a:extLst>
          </p:cNvPr>
          <p:cNvSpPr>
            <a:spLocks noGrp="1"/>
          </p:cNvSpPr>
          <p:nvPr>
            <p:ph type="title" hasCustomPrompt="1"/>
          </p:nvPr>
        </p:nvSpPr>
        <p:spPr>
          <a:xfrm>
            <a:off x="838200" y="799561"/>
            <a:ext cx="7770812"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Click to edit title</a:t>
            </a:r>
          </a:p>
        </p:txBody>
      </p:sp>
    </p:spTree>
    <p:extLst>
      <p:ext uri="{BB962C8B-B14F-4D97-AF65-F5344CB8AC3E}">
        <p14:creationId xmlns:p14="http://schemas.microsoft.com/office/powerpoint/2010/main" val="63900448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71817D-5845-14BE-DBF9-8D3F1B5199B8}"/>
              </a:ext>
            </a:extLst>
          </p:cNvPr>
          <p:cNvSpPr>
            <a:spLocks noGrp="1"/>
          </p:cNvSpPr>
          <p:nvPr>
            <p:ph type="body" idx="1" hasCustomPrompt="1"/>
          </p:nvPr>
        </p:nvSpPr>
        <p:spPr>
          <a:xfrm>
            <a:off x="839788" y="1681163"/>
            <a:ext cx="5157787"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text</a:t>
            </a:r>
          </a:p>
        </p:txBody>
      </p:sp>
      <p:sp>
        <p:nvSpPr>
          <p:cNvPr id="4" name="Content Placeholder 3">
            <a:extLst>
              <a:ext uri="{FF2B5EF4-FFF2-40B4-BE49-F238E27FC236}">
                <a16:creationId xmlns:a16="http://schemas.microsoft.com/office/drawing/2014/main" id="{D643A633-59EA-AA6A-322F-67196B5D4A0D}"/>
              </a:ext>
            </a:extLst>
          </p:cNvPr>
          <p:cNvSpPr>
            <a:spLocks noGrp="1"/>
          </p:cNvSpPr>
          <p:nvPr>
            <p:ph sz="half" idx="2" hasCustomPrompt="1"/>
          </p:nvPr>
        </p:nvSpPr>
        <p:spPr>
          <a:xfrm>
            <a:off x="839788" y="2529789"/>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3D56F8F-DAF7-ED0E-0644-2D6B25D232B3}"/>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text</a:t>
            </a:r>
          </a:p>
        </p:txBody>
      </p:sp>
      <p:sp>
        <p:nvSpPr>
          <p:cNvPr id="6" name="Content Placeholder 5">
            <a:extLst>
              <a:ext uri="{FF2B5EF4-FFF2-40B4-BE49-F238E27FC236}">
                <a16:creationId xmlns:a16="http://schemas.microsoft.com/office/drawing/2014/main" id="{D9FA4AF2-D719-4564-4AD6-5E52138C8FFB}"/>
              </a:ext>
            </a:extLst>
          </p:cNvPr>
          <p:cNvSpPr>
            <a:spLocks noGrp="1"/>
          </p:cNvSpPr>
          <p:nvPr>
            <p:ph sz="quarter" idx="4" hasCustomPrompt="1"/>
          </p:nvPr>
        </p:nvSpPr>
        <p:spPr>
          <a:xfrm>
            <a:off x="6172200" y="2529789"/>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EDBE8EB-A0D7-E065-B555-B1A64C9B3ADF}"/>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9" name="Slide Number Placeholder 8">
            <a:extLst>
              <a:ext uri="{FF2B5EF4-FFF2-40B4-BE49-F238E27FC236}">
                <a16:creationId xmlns:a16="http://schemas.microsoft.com/office/drawing/2014/main" id="{C2C9D4B1-82FB-D4C3-70E9-4ACFD672C813}"/>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11" name="Title 1">
            <a:extLst>
              <a:ext uri="{FF2B5EF4-FFF2-40B4-BE49-F238E27FC236}">
                <a16:creationId xmlns:a16="http://schemas.microsoft.com/office/drawing/2014/main" id="{79AF9943-DCF1-7366-0374-D1A2FE93BCDE}"/>
              </a:ext>
            </a:extLst>
          </p:cNvPr>
          <p:cNvSpPr>
            <a:spLocks noGrp="1"/>
          </p:cNvSpPr>
          <p:nvPr>
            <p:ph type="title" hasCustomPrompt="1"/>
          </p:nvPr>
        </p:nvSpPr>
        <p:spPr>
          <a:xfrm>
            <a:off x="838200" y="785811"/>
            <a:ext cx="10515600"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Click to edit title</a:t>
            </a:r>
          </a:p>
        </p:txBody>
      </p:sp>
    </p:spTree>
    <p:extLst>
      <p:ext uri="{BB962C8B-B14F-4D97-AF65-F5344CB8AC3E}">
        <p14:creationId xmlns:p14="http://schemas.microsoft.com/office/powerpoint/2010/main" val="338679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rgbClr val="F9F9F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7361A9-4041-1976-93EC-29105353F6F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3" name="Content Placeholder 2">
            <a:extLst>
              <a:ext uri="{FF2B5EF4-FFF2-40B4-BE49-F238E27FC236}">
                <a16:creationId xmlns:a16="http://schemas.microsoft.com/office/drawing/2014/main" id="{80DD0630-EB8A-6875-9C93-CF1F78405A18}"/>
              </a:ext>
            </a:extLst>
          </p:cNvPr>
          <p:cNvSpPr>
            <a:spLocks noGrp="1"/>
          </p:cNvSpPr>
          <p:nvPr>
            <p:ph sz="half" idx="1" hasCustomPrompt="1"/>
          </p:nvPr>
        </p:nvSpPr>
        <p:spPr>
          <a:xfrm>
            <a:off x="838200" y="1676938"/>
            <a:ext cx="5181600" cy="4500025"/>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47DA90E-9038-0EA3-1502-8A3D51A671D6}"/>
              </a:ext>
            </a:extLst>
          </p:cNvPr>
          <p:cNvSpPr>
            <a:spLocks noGrp="1"/>
          </p:cNvSpPr>
          <p:nvPr>
            <p:ph sz="half" idx="2" hasCustomPrompt="1"/>
          </p:nvPr>
        </p:nvSpPr>
        <p:spPr>
          <a:xfrm>
            <a:off x="6172200" y="1676938"/>
            <a:ext cx="5181600" cy="4500025"/>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D259CC3-3A1F-27CF-A198-40A5ACA74630}"/>
              </a:ext>
            </a:extLst>
          </p:cNvPr>
          <p:cNvSpPr>
            <a:spLocks noGrp="1"/>
          </p:cNvSpPr>
          <p:nvPr>
            <p:ph type="dt" sz="half" idx="10"/>
          </p:nvPr>
        </p:nvSpPr>
        <p:spPr/>
        <p:txBody>
          <a:bodyPr/>
          <a:lstStyle/>
          <a:p>
            <a:fld id="{72E69B40-0969-4DE3-9B34-4C08A597E9DA}" type="datetimeFigureOut">
              <a:rPr lang="en-GB" smtClean="0"/>
              <a:t>16/06/2026</a:t>
            </a:fld>
            <a:endParaRPr lang="en-GB"/>
          </a:p>
        </p:txBody>
      </p:sp>
      <p:sp>
        <p:nvSpPr>
          <p:cNvPr id="7" name="Slide Number Placeholder 6">
            <a:extLst>
              <a:ext uri="{FF2B5EF4-FFF2-40B4-BE49-F238E27FC236}">
                <a16:creationId xmlns:a16="http://schemas.microsoft.com/office/drawing/2014/main" id="{06E571AE-A7A9-6674-992C-BED2F7533D44}"/>
              </a:ext>
            </a:extLst>
          </p:cNvPr>
          <p:cNvSpPr>
            <a:spLocks noGrp="1"/>
          </p:cNvSpPr>
          <p:nvPr>
            <p:ph type="sldNum" sz="quarter" idx="12"/>
          </p:nvPr>
        </p:nvSpPr>
        <p:spPr/>
        <p:txBody>
          <a:bodyPr/>
          <a:lstStyle/>
          <a:p>
            <a:fld id="{E88438AD-B679-4B70-A0F6-D6FFB61026A2}" type="slidenum">
              <a:rPr lang="en-GB" smtClean="0"/>
              <a:t>‹#›</a:t>
            </a:fld>
            <a:endParaRPr lang="en-GB"/>
          </a:p>
        </p:txBody>
      </p:sp>
      <p:sp>
        <p:nvSpPr>
          <p:cNvPr id="9" name="Title 1">
            <a:extLst>
              <a:ext uri="{FF2B5EF4-FFF2-40B4-BE49-F238E27FC236}">
                <a16:creationId xmlns:a16="http://schemas.microsoft.com/office/drawing/2014/main" id="{9B56CD02-56C8-3985-BEFD-5D98AABCA815}"/>
              </a:ext>
            </a:extLst>
          </p:cNvPr>
          <p:cNvSpPr>
            <a:spLocks noGrp="1"/>
          </p:cNvSpPr>
          <p:nvPr>
            <p:ph type="title" hasCustomPrompt="1"/>
          </p:nvPr>
        </p:nvSpPr>
        <p:spPr>
          <a:xfrm>
            <a:off x="838200" y="785811"/>
            <a:ext cx="10515600" cy="891127"/>
          </a:xfrm>
        </p:spPr>
        <p:txBody>
          <a:bodyPr/>
          <a:lstStyle>
            <a:lvl1pPr>
              <a:defRPr>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GB"/>
              <a:t>Click to edit title</a:t>
            </a:r>
          </a:p>
        </p:txBody>
      </p:sp>
    </p:spTree>
    <p:extLst>
      <p:ext uri="{BB962C8B-B14F-4D97-AF65-F5344CB8AC3E}">
        <p14:creationId xmlns:p14="http://schemas.microsoft.com/office/powerpoint/2010/main" val="287485557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7" name="Title Text"/>
          <p:cNvSpPr txBox="1">
            <a:spLocks noGrp="1"/>
          </p:cNvSpPr>
          <p:nvPr>
            <p:ph type="title"/>
          </p:nvPr>
        </p:nvSpPr>
        <p:spPr>
          <a:prstGeom prst="rect">
            <a:avLst/>
          </a:prstGeom>
        </p:spPr>
        <p:txBody>
          <a:bodyPr/>
          <a:lstStyle>
            <a:lvl1pPr>
              <a:defRPr>
                <a:latin typeface="Optima"/>
                <a:ea typeface="Optima"/>
                <a:cs typeface="Optima"/>
                <a:sym typeface="Optima"/>
              </a:defRPr>
            </a:lvl1pPr>
          </a:lstStyle>
          <a:p>
            <a:r>
              <a:t>Title Text</a:t>
            </a:r>
          </a:p>
        </p:txBody>
      </p:sp>
      <p:sp>
        <p:nvSpPr>
          <p:cNvPr id="118" name="Body Level One…"/>
          <p:cNvSpPr txBox="1">
            <a:spLocks noGrp="1"/>
          </p:cNvSpPr>
          <p:nvPr>
            <p:ph type="body" idx="1"/>
          </p:nvPr>
        </p:nvSpPr>
        <p:spPr>
          <a:prstGeom prst="rect">
            <a:avLst/>
          </a:prstGeom>
        </p:spPr>
        <p:txBody>
          <a:bodyPr/>
          <a:lstStyle>
            <a:lvl1pPr>
              <a:buClrTx/>
              <a:defRPr>
                <a:latin typeface="Optima"/>
                <a:ea typeface="Optima"/>
                <a:cs typeface="Optima"/>
                <a:sym typeface="Optima"/>
              </a:defRPr>
            </a:lvl1pPr>
            <a:lvl2pPr>
              <a:buClrTx/>
              <a:defRPr>
                <a:latin typeface="Optima"/>
                <a:ea typeface="Optima"/>
                <a:cs typeface="Optima"/>
                <a:sym typeface="Optima"/>
              </a:defRPr>
            </a:lvl2pPr>
            <a:lvl3pPr>
              <a:buClrTx/>
              <a:defRPr>
                <a:latin typeface="Optima"/>
                <a:ea typeface="Optima"/>
                <a:cs typeface="Optima"/>
                <a:sym typeface="Optima"/>
              </a:defRPr>
            </a:lvl3pPr>
            <a:lvl4pPr>
              <a:buClrTx/>
              <a:defRPr>
                <a:latin typeface="Optima"/>
                <a:ea typeface="Optima"/>
                <a:cs typeface="Optima"/>
                <a:sym typeface="Optima"/>
              </a:defRPr>
            </a:lvl4pPr>
            <a:lvl5pPr>
              <a:buClrTx/>
              <a:defRPr>
                <a:latin typeface="Optima"/>
                <a:ea typeface="Optima"/>
                <a:cs typeface="Optima"/>
                <a:sym typeface="Optima"/>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2552439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55943D-DA14-74FB-778B-5C7A0C4B2F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C7F7A2C-33E3-5D9D-C771-48B9958987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A78AA91-85FF-553D-32EC-69A0EE4B6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50C048-FAB2-462E-A905-7F3218D6D08D}" type="datetimeFigureOut">
              <a:rPr lang="en-GB" smtClean="0"/>
              <a:t>16/06/2026</a:t>
            </a:fld>
            <a:endParaRPr lang="en-GB"/>
          </a:p>
        </p:txBody>
      </p:sp>
      <p:sp>
        <p:nvSpPr>
          <p:cNvPr id="5" name="Footer Placeholder 4">
            <a:extLst>
              <a:ext uri="{FF2B5EF4-FFF2-40B4-BE49-F238E27FC236}">
                <a16:creationId xmlns:a16="http://schemas.microsoft.com/office/drawing/2014/main" id="{9EE24A65-8BCE-18ED-0CAC-1AE19E8EB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C8B29AC-B2CF-2F5D-673A-391BE80E4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523A20-ACEE-4958-BDC8-8258141027BD}" type="slidenum">
              <a:rPr lang="en-GB" smtClean="0"/>
              <a:t>‹#›</a:t>
            </a:fld>
            <a:endParaRPr lang="en-GB"/>
          </a:p>
        </p:txBody>
      </p:sp>
    </p:spTree>
    <p:extLst>
      <p:ext uri="{BB962C8B-B14F-4D97-AF65-F5344CB8AC3E}">
        <p14:creationId xmlns:p14="http://schemas.microsoft.com/office/powerpoint/2010/main" val="3770570121"/>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56" r:id="rId7"/>
    <p:sldLayoutId id="2147483660" r:id="rId8"/>
    <p:sldLayoutId id="2147483662" r:id="rId9"/>
    <p:sldLayoutId id="2147483663" r:id="rId10"/>
    <p:sldLayoutId id="2147483664" r:id="rId11"/>
    <p:sldLayoutId id="214748366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10.jpe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mailto:contact@echoes-eccch.eu" TargetMode="External"/><Relationship Id="rId1" Type="http://schemas.openxmlformats.org/officeDocument/2006/relationships/slideLayout" Target="../slideLayouts/slideLayout6.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B801748-D7C2-BE72-8A54-22E4312C7F72}"/>
              </a:ext>
            </a:extLst>
          </p:cNvPr>
          <p:cNvSpPr txBox="1"/>
          <p:nvPr/>
        </p:nvSpPr>
        <p:spPr>
          <a:xfrm>
            <a:off x="0" y="998819"/>
            <a:ext cx="10395679" cy="4278094"/>
          </a:xfrm>
          <a:prstGeom prst="rect">
            <a:avLst/>
          </a:prstGeom>
          <a:noFill/>
        </p:spPr>
        <p:txBody>
          <a:bodyPr wrap="square" lIns="91440" tIns="45720" rIns="91440" bIns="45720" anchor="t">
            <a:spAutoFit/>
          </a:bodyPr>
          <a:lstStyle/>
          <a:p>
            <a:pPr algn="ctr"/>
            <a:endParaRPr lang="en-GB" sz="3600" b="1" dirty="0">
              <a:latin typeface="Calibri" panose="020F0502020204030204" pitchFamily="34" charset="0"/>
              <a:ea typeface="Noto Sans"/>
              <a:cs typeface="Calibri" panose="020F0502020204030204" pitchFamily="34" charset="0"/>
            </a:endParaRPr>
          </a:p>
          <a:p>
            <a:pPr algn="ctr"/>
            <a:endParaRPr lang="en-GB" sz="3600" b="1" dirty="0">
              <a:latin typeface="Calibri" panose="020F0502020204030204" pitchFamily="34" charset="0"/>
              <a:ea typeface="Noto Sans"/>
              <a:cs typeface="Calibri" panose="020F0502020204030204" pitchFamily="34" charset="0"/>
            </a:endParaRPr>
          </a:p>
          <a:p>
            <a:pPr algn="ctr"/>
            <a:r>
              <a:rPr lang="en-GB" sz="3600" b="1" dirty="0">
                <a:latin typeface="Calibri" panose="020F0502020204030204" pitchFamily="34" charset="0"/>
                <a:ea typeface="Noto Sans"/>
                <a:cs typeface="Calibri" panose="020F0502020204030204" pitchFamily="34" charset="0"/>
              </a:rPr>
              <a:t>Heritage Digital Twin Ontology</a:t>
            </a:r>
          </a:p>
          <a:p>
            <a:pPr algn="ctr"/>
            <a:r>
              <a:rPr lang="en-US" sz="3600" b="1" dirty="0">
                <a:latin typeface="Calibri" panose="020F0502020204030204" pitchFamily="34" charset="0"/>
                <a:ea typeface="Noto Sans"/>
                <a:cs typeface="Calibri" panose="020F0502020204030204" pitchFamily="34" charset="0"/>
              </a:rPr>
              <a:t>in action</a:t>
            </a:r>
            <a:endParaRPr lang="el-GR" sz="3600" b="1" dirty="0">
              <a:latin typeface="Calibri" panose="020F0502020204030204" pitchFamily="34" charset="0"/>
              <a:ea typeface="Noto Sans"/>
              <a:cs typeface="Calibri" panose="020F0502020204030204" pitchFamily="34" charset="0"/>
            </a:endParaRPr>
          </a:p>
          <a:p>
            <a:pPr algn="ctr"/>
            <a:endParaRPr lang="en-GB" sz="2000" dirty="0">
              <a:latin typeface="Calibri" panose="020F0502020204030204" pitchFamily="34" charset="0"/>
              <a:ea typeface="Noto Sans"/>
              <a:cs typeface="Calibri" panose="020F0502020204030204" pitchFamily="34" charset="0"/>
            </a:endParaRPr>
          </a:p>
          <a:p>
            <a:pPr algn="ctr"/>
            <a:endParaRPr lang="en-GB" sz="2000" dirty="0">
              <a:latin typeface="Calibri" panose="020F0502020204030204" pitchFamily="34" charset="0"/>
              <a:ea typeface="Noto Sans"/>
              <a:cs typeface="Calibri" panose="020F0502020204030204" pitchFamily="34" charset="0"/>
            </a:endParaRPr>
          </a:p>
          <a:p>
            <a:pPr algn="ctr"/>
            <a:r>
              <a:rPr lang="en-GB" sz="2000" dirty="0">
                <a:latin typeface="Calibri" panose="020F0502020204030204" pitchFamily="34" charset="0"/>
                <a:ea typeface="Noto Sans"/>
                <a:cs typeface="Calibri" panose="020F0502020204030204" pitchFamily="34" charset="0"/>
              </a:rPr>
              <a:t>Maria Theodoridou, </a:t>
            </a:r>
            <a:r>
              <a:rPr lang="en-GB" sz="2000" dirty="0" err="1">
                <a:latin typeface="Calibri" panose="020F0502020204030204" pitchFamily="34" charset="0"/>
                <a:ea typeface="Noto Sans"/>
                <a:cs typeface="Calibri" panose="020F0502020204030204" pitchFamily="34" charset="0"/>
              </a:rPr>
              <a:t>Athina</a:t>
            </a:r>
            <a:r>
              <a:rPr lang="en-GB" sz="2000" dirty="0">
                <a:latin typeface="Calibri" panose="020F0502020204030204" pitchFamily="34" charset="0"/>
                <a:ea typeface="Noto Sans"/>
                <a:cs typeface="Calibri" panose="020F0502020204030204" pitchFamily="34" charset="0"/>
              </a:rPr>
              <a:t> </a:t>
            </a:r>
            <a:r>
              <a:rPr lang="en-GB" sz="2000" dirty="0" err="1">
                <a:latin typeface="Calibri" panose="020F0502020204030204" pitchFamily="34" charset="0"/>
                <a:ea typeface="Noto Sans"/>
                <a:cs typeface="Calibri" panose="020F0502020204030204" pitchFamily="34" charset="0"/>
              </a:rPr>
              <a:t>Kritsotaki</a:t>
            </a:r>
            <a:r>
              <a:rPr lang="en-GB" sz="2000" dirty="0">
                <a:latin typeface="Calibri" panose="020F0502020204030204" pitchFamily="34" charset="0"/>
                <a:ea typeface="Noto Sans"/>
                <a:cs typeface="Calibri" panose="020F0502020204030204" pitchFamily="34" charset="0"/>
              </a:rPr>
              <a:t>, Sorin Hermon</a:t>
            </a:r>
            <a:endParaRPr lang="en-GB" sz="2000" dirty="0">
              <a:latin typeface="Noto Sans"/>
              <a:ea typeface="Noto Sans"/>
              <a:cs typeface="Noto Sans"/>
            </a:endParaRPr>
          </a:p>
          <a:p>
            <a:pPr algn="ctr"/>
            <a:endParaRPr lang="en-GB" sz="2000" dirty="0">
              <a:latin typeface="Noto Sans"/>
              <a:ea typeface="Noto Sans"/>
              <a:cs typeface="Noto Sans"/>
            </a:endParaRPr>
          </a:p>
          <a:p>
            <a:pPr algn="ctr"/>
            <a:endParaRPr lang="en-GB" sz="2000" dirty="0">
              <a:latin typeface="Noto Sans"/>
              <a:ea typeface="Noto Sans"/>
              <a:cs typeface="Noto Sans"/>
            </a:endParaRPr>
          </a:p>
          <a:p>
            <a:pPr algn="ctr"/>
            <a:endParaRPr lang="en-GB" sz="2800" dirty="0">
              <a:latin typeface="Noto Sans"/>
              <a:ea typeface="Noto Sans"/>
              <a:cs typeface="Noto Sans"/>
            </a:endParaRPr>
          </a:p>
        </p:txBody>
      </p:sp>
    </p:spTree>
    <p:extLst>
      <p:ext uri="{BB962C8B-B14F-4D97-AF65-F5344CB8AC3E}">
        <p14:creationId xmlns:p14="http://schemas.microsoft.com/office/powerpoint/2010/main" val="1237804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282E-2476-CC26-66C3-928978C629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7E316A-F467-02DC-7437-BC567F95A255}"/>
              </a:ext>
            </a:extLst>
          </p:cNvPr>
          <p:cNvSpPr>
            <a:spLocks noGrp="1"/>
          </p:cNvSpPr>
          <p:nvPr>
            <p:ph type="ctrTitle"/>
          </p:nvPr>
        </p:nvSpPr>
        <p:spPr>
          <a:xfrm>
            <a:off x="1524000" y="2235200"/>
            <a:ext cx="9144000" cy="2387600"/>
          </a:xfrm>
        </p:spPr>
        <p:txBody>
          <a:bodyPr anchor="ctr">
            <a:normAutofit/>
          </a:bodyPr>
          <a:lstStyle/>
          <a:p>
            <a:r>
              <a:rPr lang="en-GB" dirty="0">
                <a:latin typeface="Calibri" panose="020F0502020204030204" pitchFamily="34" charset="0"/>
                <a:ea typeface="Noto Sans SemiBold" panose="020B0604020202020204" charset="0"/>
                <a:cs typeface="Calibri" panose="020F0502020204030204" pitchFamily="34" charset="0"/>
              </a:rPr>
              <a:t>Use Case:</a:t>
            </a:r>
            <a:br>
              <a:rPr lang="en-GB" dirty="0">
                <a:latin typeface="Calibri" panose="020F0502020204030204" pitchFamily="34" charset="0"/>
                <a:ea typeface="Noto Sans SemiBold" panose="020B0604020202020204" charset="0"/>
                <a:cs typeface="Calibri" panose="020F0502020204030204" pitchFamily="34" charset="0"/>
              </a:rPr>
            </a:br>
            <a:r>
              <a:rPr lang="en-GB" dirty="0">
                <a:latin typeface="Calibri" panose="020F0502020204030204" pitchFamily="34" charset="0"/>
                <a:ea typeface="Noto Sans SemiBold" panose="020B0604020202020204" charset="0"/>
                <a:cs typeface="Calibri" panose="020F0502020204030204" pitchFamily="34" charset="0"/>
              </a:rPr>
              <a:t>The Derynia icon</a:t>
            </a:r>
          </a:p>
        </p:txBody>
      </p:sp>
    </p:spTree>
    <p:extLst>
      <p:ext uri="{BB962C8B-B14F-4D97-AF65-F5344CB8AC3E}">
        <p14:creationId xmlns:p14="http://schemas.microsoft.com/office/powerpoint/2010/main" val="2001166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Image" descr="Image"/>
          <p:cNvPicPr>
            <a:picLocks noChangeAspect="1"/>
          </p:cNvPicPr>
          <p:nvPr/>
        </p:nvPicPr>
        <p:blipFill>
          <a:blip r:embed="rId2"/>
          <a:srcRect l="14640" t="8971" r="14837" b="12171"/>
          <a:stretch>
            <a:fillRect/>
          </a:stretch>
        </p:blipFill>
        <p:spPr>
          <a:xfrm>
            <a:off x="4911967" y="17626"/>
            <a:ext cx="4800917" cy="6822748"/>
          </a:xfrm>
          <a:custGeom>
            <a:avLst/>
            <a:gdLst/>
            <a:ahLst/>
            <a:cxnLst>
              <a:cxn ang="0">
                <a:pos x="wd2" y="hd2"/>
              </a:cxn>
              <a:cxn ang="5400000">
                <a:pos x="wd2" y="hd2"/>
              </a:cxn>
              <a:cxn ang="10800000">
                <a:pos x="wd2" y="hd2"/>
              </a:cxn>
              <a:cxn ang="16200000">
                <a:pos x="wd2" y="hd2"/>
              </a:cxn>
            </a:cxnLst>
            <a:rect l="0" t="0" r="r" b="b"/>
            <a:pathLst>
              <a:path w="21521" h="21573" extrusionOk="0">
                <a:moveTo>
                  <a:pt x="9076" y="1"/>
                </a:moveTo>
                <a:cubicBezTo>
                  <a:pt x="9024" y="-6"/>
                  <a:pt x="8989" y="10"/>
                  <a:pt x="8967" y="50"/>
                </a:cubicBezTo>
                <a:cubicBezTo>
                  <a:pt x="8948" y="86"/>
                  <a:pt x="8882" y="109"/>
                  <a:pt x="8801" y="120"/>
                </a:cubicBezTo>
                <a:cubicBezTo>
                  <a:pt x="8782" y="127"/>
                  <a:pt x="8762" y="129"/>
                  <a:pt x="8736" y="125"/>
                </a:cubicBezTo>
                <a:cubicBezTo>
                  <a:pt x="8614" y="130"/>
                  <a:pt x="8476" y="110"/>
                  <a:pt x="8407" y="62"/>
                </a:cubicBezTo>
                <a:cubicBezTo>
                  <a:pt x="8331" y="9"/>
                  <a:pt x="8298" y="15"/>
                  <a:pt x="8239" y="88"/>
                </a:cubicBezTo>
                <a:cubicBezTo>
                  <a:pt x="8147" y="203"/>
                  <a:pt x="7705" y="213"/>
                  <a:pt x="7575" y="103"/>
                </a:cubicBezTo>
                <a:cubicBezTo>
                  <a:pt x="7486" y="28"/>
                  <a:pt x="7317" y="19"/>
                  <a:pt x="7162" y="83"/>
                </a:cubicBezTo>
                <a:cubicBezTo>
                  <a:pt x="7121" y="100"/>
                  <a:pt x="6330" y="119"/>
                  <a:pt x="5405" y="125"/>
                </a:cubicBezTo>
                <a:cubicBezTo>
                  <a:pt x="3681" y="138"/>
                  <a:pt x="3535" y="137"/>
                  <a:pt x="2376" y="125"/>
                </a:cubicBezTo>
                <a:cubicBezTo>
                  <a:pt x="2117" y="122"/>
                  <a:pt x="1924" y="123"/>
                  <a:pt x="1799" y="124"/>
                </a:cubicBezTo>
                <a:cubicBezTo>
                  <a:pt x="1711" y="128"/>
                  <a:pt x="1628" y="133"/>
                  <a:pt x="1549" y="139"/>
                </a:cubicBezTo>
                <a:cubicBezTo>
                  <a:pt x="1494" y="146"/>
                  <a:pt x="1460" y="150"/>
                  <a:pt x="1377" y="158"/>
                </a:cubicBezTo>
                <a:cubicBezTo>
                  <a:pt x="987" y="194"/>
                  <a:pt x="602" y="340"/>
                  <a:pt x="653" y="433"/>
                </a:cubicBezTo>
                <a:cubicBezTo>
                  <a:pt x="676" y="477"/>
                  <a:pt x="640" y="556"/>
                  <a:pt x="571" y="610"/>
                </a:cubicBezTo>
                <a:cubicBezTo>
                  <a:pt x="543" y="632"/>
                  <a:pt x="522" y="652"/>
                  <a:pt x="509" y="668"/>
                </a:cubicBezTo>
                <a:cubicBezTo>
                  <a:pt x="505" y="673"/>
                  <a:pt x="501" y="678"/>
                  <a:pt x="497" y="684"/>
                </a:cubicBezTo>
                <a:cubicBezTo>
                  <a:pt x="489" y="698"/>
                  <a:pt x="489" y="708"/>
                  <a:pt x="503" y="708"/>
                </a:cubicBezTo>
                <a:cubicBezTo>
                  <a:pt x="535" y="708"/>
                  <a:pt x="521" y="742"/>
                  <a:pt x="471" y="784"/>
                </a:cubicBezTo>
                <a:cubicBezTo>
                  <a:pt x="422" y="826"/>
                  <a:pt x="402" y="907"/>
                  <a:pt x="428" y="964"/>
                </a:cubicBezTo>
                <a:cubicBezTo>
                  <a:pt x="452" y="1018"/>
                  <a:pt x="439" y="1076"/>
                  <a:pt x="401" y="1098"/>
                </a:cubicBezTo>
                <a:cubicBezTo>
                  <a:pt x="414" y="1162"/>
                  <a:pt x="417" y="1300"/>
                  <a:pt x="413" y="1481"/>
                </a:cubicBezTo>
                <a:cubicBezTo>
                  <a:pt x="465" y="1507"/>
                  <a:pt x="479" y="1591"/>
                  <a:pt x="468" y="1678"/>
                </a:cubicBezTo>
                <a:cubicBezTo>
                  <a:pt x="470" y="1743"/>
                  <a:pt x="456" y="1806"/>
                  <a:pt x="419" y="1832"/>
                </a:cubicBezTo>
                <a:cubicBezTo>
                  <a:pt x="418" y="1832"/>
                  <a:pt x="418" y="1832"/>
                  <a:pt x="417" y="1833"/>
                </a:cubicBezTo>
                <a:cubicBezTo>
                  <a:pt x="410" y="1845"/>
                  <a:pt x="404" y="1857"/>
                  <a:pt x="396" y="1867"/>
                </a:cubicBezTo>
                <a:cubicBezTo>
                  <a:pt x="392" y="1929"/>
                  <a:pt x="389" y="1984"/>
                  <a:pt x="384" y="2052"/>
                </a:cubicBezTo>
                <a:cubicBezTo>
                  <a:pt x="346" y="2574"/>
                  <a:pt x="302" y="3606"/>
                  <a:pt x="287" y="4345"/>
                </a:cubicBezTo>
                <a:cubicBezTo>
                  <a:pt x="226" y="7350"/>
                  <a:pt x="163" y="9450"/>
                  <a:pt x="126" y="9771"/>
                </a:cubicBezTo>
                <a:cubicBezTo>
                  <a:pt x="-14" y="10980"/>
                  <a:pt x="-50" y="19120"/>
                  <a:pt x="81" y="20080"/>
                </a:cubicBezTo>
                <a:cubicBezTo>
                  <a:pt x="194" y="20910"/>
                  <a:pt x="243" y="21114"/>
                  <a:pt x="318" y="21081"/>
                </a:cubicBezTo>
                <a:cubicBezTo>
                  <a:pt x="429" y="21033"/>
                  <a:pt x="842" y="21220"/>
                  <a:pt x="842" y="21318"/>
                </a:cubicBezTo>
                <a:cubicBezTo>
                  <a:pt x="842" y="21422"/>
                  <a:pt x="1256" y="21506"/>
                  <a:pt x="1964" y="21545"/>
                </a:cubicBezTo>
                <a:cubicBezTo>
                  <a:pt x="2859" y="21594"/>
                  <a:pt x="2947" y="21587"/>
                  <a:pt x="3095" y="21454"/>
                </a:cubicBezTo>
                <a:cubicBezTo>
                  <a:pt x="3236" y="21328"/>
                  <a:pt x="3305" y="21319"/>
                  <a:pt x="3554" y="21395"/>
                </a:cubicBezTo>
                <a:cubicBezTo>
                  <a:pt x="3625" y="21417"/>
                  <a:pt x="3739" y="21420"/>
                  <a:pt x="3806" y="21402"/>
                </a:cubicBezTo>
                <a:cubicBezTo>
                  <a:pt x="3873" y="21384"/>
                  <a:pt x="3965" y="21390"/>
                  <a:pt x="4012" y="21415"/>
                </a:cubicBezTo>
                <a:cubicBezTo>
                  <a:pt x="4141" y="21486"/>
                  <a:pt x="4406" y="21520"/>
                  <a:pt x="4502" y="21478"/>
                </a:cubicBezTo>
                <a:cubicBezTo>
                  <a:pt x="4549" y="21458"/>
                  <a:pt x="4813" y="21471"/>
                  <a:pt x="5088" y="21507"/>
                </a:cubicBezTo>
                <a:cubicBezTo>
                  <a:pt x="5390" y="21547"/>
                  <a:pt x="5636" y="21555"/>
                  <a:pt x="5711" y="21527"/>
                </a:cubicBezTo>
                <a:cubicBezTo>
                  <a:pt x="5779" y="21501"/>
                  <a:pt x="5856" y="21496"/>
                  <a:pt x="5883" y="21515"/>
                </a:cubicBezTo>
                <a:cubicBezTo>
                  <a:pt x="5958" y="21567"/>
                  <a:pt x="9071" y="21570"/>
                  <a:pt x="9118" y="21517"/>
                </a:cubicBezTo>
                <a:cubicBezTo>
                  <a:pt x="9140" y="21491"/>
                  <a:pt x="9196" y="21493"/>
                  <a:pt x="9245" y="21520"/>
                </a:cubicBezTo>
                <a:cubicBezTo>
                  <a:pt x="9293" y="21547"/>
                  <a:pt x="9449" y="21559"/>
                  <a:pt x="9593" y="21548"/>
                </a:cubicBezTo>
                <a:cubicBezTo>
                  <a:pt x="9737" y="21537"/>
                  <a:pt x="9906" y="21525"/>
                  <a:pt x="9968" y="21522"/>
                </a:cubicBezTo>
                <a:cubicBezTo>
                  <a:pt x="10030" y="21518"/>
                  <a:pt x="10123" y="21490"/>
                  <a:pt x="10176" y="21461"/>
                </a:cubicBezTo>
                <a:cubicBezTo>
                  <a:pt x="10243" y="21424"/>
                  <a:pt x="10299" y="21425"/>
                  <a:pt x="10356" y="21466"/>
                </a:cubicBezTo>
                <a:cubicBezTo>
                  <a:pt x="10413" y="21506"/>
                  <a:pt x="10483" y="21507"/>
                  <a:pt x="10579" y="21471"/>
                </a:cubicBezTo>
                <a:cubicBezTo>
                  <a:pt x="10727" y="21416"/>
                  <a:pt x="10893" y="21453"/>
                  <a:pt x="10828" y="21528"/>
                </a:cubicBezTo>
                <a:cubicBezTo>
                  <a:pt x="10779" y="21584"/>
                  <a:pt x="11096" y="21531"/>
                  <a:pt x="11220" y="21462"/>
                </a:cubicBezTo>
                <a:cubicBezTo>
                  <a:pt x="11283" y="21428"/>
                  <a:pt x="11351" y="21432"/>
                  <a:pt x="11425" y="21476"/>
                </a:cubicBezTo>
                <a:cubicBezTo>
                  <a:pt x="11494" y="21516"/>
                  <a:pt x="11614" y="21527"/>
                  <a:pt x="11743" y="21503"/>
                </a:cubicBezTo>
                <a:cubicBezTo>
                  <a:pt x="11856" y="21483"/>
                  <a:pt x="12538" y="21457"/>
                  <a:pt x="13258" y="21447"/>
                </a:cubicBezTo>
                <a:cubicBezTo>
                  <a:pt x="13978" y="21436"/>
                  <a:pt x="14769" y="21413"/>
                  <a:pt x="15016" y="21394"/>
                </a:cubicBezTo>
                <a:cubicBezTo>
                  <a:pt x="15263" y="21376"/>
                  <a:pt x="15784" y="21364"/>
                  <a:pt x="16175" y="21367"/>
                </a:cubicBezTo>
                <a:cubicBezTo>
                  <a:pt x="16566" y="21371"/>
                  <a:pt x="16993" y="21351"/>
                  <a:pt x="17123" y="21324"/>
                </a:cubicBezTo>
                <a:cubicBezTo>
                  <a:pt x="17254" y="21297"/>
                  <a:pt x="17480" y="21294"/>
                  <a:pt x="17623" y="21316"/>
                </a:cubicBezTo>
                <a:cubicBezTo>
                  <a:pt x="17767" y="21339"/>
                  <a:pt x="17914" y="21337"/>
                  <a:pt x="17950" y="21312"/>
                </a:cubicBezTo>
                <a:cubicBezTo>
                  <a:pt x="18020" y="21262"/>
                  <a:pt x="18419" y="21206"/>
                  <a:pt x="18713" y="21204"/>
                </a:cubicBezTo>
                <a:cubicBezTo>
                  <a:pt x="18816" y="21203"/>
                  <a:pt x="18950" y="21255"/>
                  <a:pt x="19024" y="21324"/>
                </a:cubicBezTo>
                <a:cubicBezTo>
                  <a:pt x="19142" y="21434"/>
                  <a:pt x="19220" y="21446"/>
                  <a:pt x="19890" y="21458"/>
                </a:cubicBezTo>
                <a:cubicBezTo>
                  <a:pt x="20901" y="21475"/>
                  <a:pt x="21336" y="21434"/>
                  <a:pt x="21336" y="21322"/>
                </a:cubicBezTo>
                <a:cubicBezTo>
                  <a:pt x="21336" y="21274"/>
                  <a:pt x="21378" y="21205"/>
                  <a:pt x="21428" y="21170"/>
                </a:cubicBezTo>
                <a:cubicBezTo>
                  <a:pt x="21539" y="21091"/>
                  <a:pt x="21550" y="19900"/>
                  <a:pt x="21462" y="17523"/>
                </a:cubicBezTo>
                <a:cubicBezTo>
                  <a:pt x="21444" y="17051"/>
                  <a:pt x="21428" y="16592"/>
                  <a:pt x="21409" y="16066"/>
                </a:cubicBezTo>
                <a:cubicBezTo>
                  <a:pt x="21383" y="16025"/>
                  <a:pt x="21360" y="15955"/>
                  <a:pt x="21350" y="15858"/>
                </a:cubicBezTo>
                <a:cubicBezTo>
                  <a:pt x="21339" y="15736"/>
                  <a:pt x="21353" y="15653"/>
                  <a:pt x="21392" y="15588"/>
                </a:cubicBezTo>
                <a:cubicBezTo>
                  <a:pt x="21389" y="15485"/>
                  <a:pt x="21384" y="15372"/>
                  <a:pt x="21381" y="15278"/>
                </a:cubicBezTo>
                <a:cubicBezTo>
                  <a:pt x="21332" y="15197"/>
                  <a:pt x="21312" y="15015"/>
                  <a:pt x="21298" y="14529"/>
                </a:cubicBezTo>
                <a:cubicBezTo>
                  <a:pt x="21261" y="14429"/>
                  <a:pt x="21256" y="14203"/>
                  <a:pt x="21262" y="13662"/>
                </a:cubicBezTo>
                <a:cubicBezTo>
                  <a:pt x="21265" y="13485"/>
                  <a:pt x="21262" y="13261"/>
                  <a:pt x="21259" y="13040"/>
                </a:cubicBezTo>
                <a:cubicBezTo>
                  <a:pt x="21237" y="12453"/>
                  <a:pt x="21198" y="11763"/>
                  <a:pt x="21130" y="10714"/>
                </a:cubicBezTo>
                <a:cubicBezTo>
                  <a:pt x="21115" y="10563"/>
                  <a:pt x="21095" y="10221"/>
                  <a:pt x="21074" y="9844"/>
                </a:cubicBezTo>
                <a:cubicBezTo>
                  <a:pt x="21054" y="9540"/>
                  <a:pt x="21022" y="8978"/>
                  <a:pt x="20999" y="8535"/>
                </a:cubicBezTo>
                <a:cubicBezTo>
                  <a:pt x="20919" y="6946"/>
                  <a:pt x="20884" y="6373"/>
                  <a:pt x="20813" y="5426"/>
                </a:cubicBezTo>
                <a:cubicBezTo>
                  <a:pt x="20774" y="4904"/>
                  <a:pt x="20721" y="4121"/>
                  <a:pt x="20696" y="3686"/>
                </a:cubicBezTo>
                <a:cubicBezTo>
                  <a:pt x="20671" y="3251"/>
                  <a:pt x="20635" y="2824"/>
                  <a:pt x="20618" y="2738"/>
                </a:cubicBezTo>
                <a:cubicBezTo>
                  <a:pt x="20615" y="2725"/>
                  <a:pt x="20612" y="2667"/>
                  <a:pt x="20609" y="2642"/>
                </a:cubicBezTo>
                <a:cubicBezTo>
                  <a:pt x="20608" y="2642"/>
                  <a:pt x="20608" y="2640"/>
                  <a:pt x="20608" y="2640"/>
                </a:cubicBezTo>
                <a:cubicBezTo>
                  <a:pt x="20588" y="2616"/>
                  <a:pt x="20560" y="2229"/>
                  <a:pt x="20547" y="1780"/>
                </a:cubicBezTo>
                <a:cubicBezTo>
                  <a:pt x="20535" y="1380"/>
                  <a:pt x="20517" y="1136"/>
                  <a:pt x="20474" y="940"/>
                </a:cubicBezTo>
                <a:cubicBezTo>
                  <a:pt x="20473" y="933"/>
                  <a:pt x="20472" y="926"/>
                  <a:pt x="20470" y="919"/>
                </a:cubicBezTo>
                <a:cubicBezTo>
                  <a:pt x="20465" y="898"/>
                  <a:pt x="20459" y="878"/>
                  <a:pt x="20454" y="858"/>
                </a:cubicBezTo>
                <a:cubicBezTo>
                  <a:pt x="20445" y="825"/>
                  <a:pt x="20435" y="792"/>
                  <a:pt x="20424" y="759"/>
                </a:cubicBezTo>
                <a:cubicBezTo>
                  <a:pt x="20424" y="759"/>
                  <a:pt x="20424" y="759"/>
                  <a:pt x="20424" y="759"/>
                </a:cubicBezTo>
                <a:cubicBezTo>
                  <a:pt x="20424" y="758"/>
                  <a:pt x="20424" y="758"/>
                  <a:pt x="20424" y="758"/>
                </a:cubicBezTo>
                <a:cubicBezTo>
                  <a:pt x="20402" y="696"/>
                  <a:pt x="20375" y="630"/>
                  <a:pt x="20344" y="560"/>
                </a:cubicBezTo>
                <a:cubicBezTo>
                  <a:pt x="20274" y="404"/>
                  <a:pt x="20224" y="315"/>
                  <a:pt x="20171" y="274"/>
                </a:cubicBezTo>
                <a:cubicBezTo>
                  <a:pt x="20170" y="273"/>
                  <a:pt x="20169" y="272"/>
                  <a:pt x="20168" y="271"/>
                </a:cubicBezTo>
                <a:cubicBezTo>
                  <a:pt x="20141" y="255"/>
                  <a:pt x="20107" y="244"/>
                  <a:pt x="20063" y="235"/>
                </a:cubicBezTo>
                <a:cubicBezTo>
                  <a:pt x="20054" y="235"/>
                  <a:pt x="20045" y="233"/>
                  <a:pt x="20034" y="233"/>
                </a:cubicBezTo>
                <a:cubicBezTo>
                  <a:pt x="19959" y="233"/>
                  <a:pt x="19881" y="222"/>
                  <a:pt x="19838" y="207"/>
                </a:cubicBezTo>
                <a:cubicBezTo>
                  <a:pt x="19522" y="176"/>
                  <a:pt x="19334" y="160"/>
                  <a:pt x="19222" y="157"/>
                </a:cubicBezTo>
                <a:cubicBezTo>
                  <a:pt x="19172" y="160"/>
                  <a:pt x="19126" y="164"/>
                  <a:pt x="19084" y="168"/>
                </a:cubicBezTo>
                <a:cubicBezTo>
                  <a:pt x="19068" y="173"/>
                  <a:pt x="19057" y="180"/>
                  <a:pt x="19049" y="188"/>
                </a:cubicBezTo>
                <a:cubicBezTo>
                  <a:pt x="18990" y="256"/>
                  <a:pt x="18783" y="243"/>
                  <a:pt x="18551" y="158"/>
                </a:cubicBezTo>
                <a:cubicBezTo>
                  <a:pt x="18544" y="156"/>
                  <a:pt x="18538" y="154"/>
                  <a:pt x="18532" y="152"/>
                </a:cubicBezTo>
                <a:cubicBezTo>
                  <a:pt x="18441" y="125"/>
                  <a:pt x="18360" y="112"/>
                  <a:pt x="18323" y="121"/>
                </a:cubicBezTo>
                <a:cubicBezTo>
                  <a:pt x="18321" y="122"/>
                  <a:pt x="18319" y="122"/>
                  <a:pt x="18317" y="123"/>
                </a:cubicBezTo>
                <a:cubicBezTo>
                  <a:pt x="18316" y="123"/>
                  <a:pt x="18315" y="124"/>
                  <a:pt x="18314" y="124"/>
                </a:cubicBezTo>
                <a:cubicBezTo>
                  <a:pt x="18310" y="126"/>
                  <a:pt x="18306" y="129"/>
                  <a:pt x="18304" y="132"/>
                </a:cubicBezTo>
                <a:cubicBezTo>
                  <a:pt x="18302" y="133"/>
                  <a:pt x="18296" y="135"/>
                  <a:pt x="18292" y="137"/>
                </a:cubicBezTo>
                <a:cubicBezTo>
                  <a:pt x="18289" y="138"/>
                  <a:pt x="18287" y="139"/>
                  <a:pt x="18283" y="140"/>
                </a:cubicBezTo>
                <a:cubicBezTo>
                  <a:pt x="18281" y="141"/>
                  <a:pt x="18279" y="142"/>
                  <a:pt x="18277" y="142"/>
                </a:cubicBezTo>
                <a:cubicBezTo>
                  <a:pt x="18240" y="153"/>
                  <a:pt x="18170" y="161"/>
                  <a:pt x="18084" y="166"/>
                </a:cubicBezTo>
                <a:cubicBezTo>
                  <a:pt x="18084" y="166"/>
                  <a:pt x="18083" y="166"/>
                  <a:pt x="18082" y="166"/>
                </a:cubicBezTo>
                <a:cubicBezTo>
                  <a:pt x="18078" y="166"/>
                  <a:pt x="18074" y="166"/>
                  <a:pt x="18069" y="166"/>
                </a:cubicBezTo>
                <a:cubicBezTo>
                  <a:pt x="18035" y="168"/>
                  <a:pt x="18001" y="170"/>
                  <a:pt x="17963" y="171"/>
                </a:cubicBezTo>
                <a:cubicBezTo>
                  <a:pt x="17857" y="175"/>
                  <a:pt x="17740" y="178"/>
                  <a:pt x="17611" y="178"/>
                </a:cubicBezTo>
                <a:cubicBezTo>
                  <a:pt x="17253" y="175"/>
                  <a:pt x="16870" y="184"/>
                  <a:pt x="16760" y="198"/>
                </a:cubicBezTo>
                <a:cubicBezTo>
                  <a:pt x="16649" y="212"/>
                  <a:pt x="16499" y="193"/>
                  <a:pt x="16426" y="155"/>
                </a:cubicBezTo>
                <a:cubicBezTo>
                  <a:pt x="16346" y="114"/>
                  <a:pt x="16232" y="102"/>
                  <a:pt x="16140" y="125"/>
                </a:cubicBezTo>
                <a:cubicBezTo>
                  <a:pt x="16040" y="151"/>
                  <a:pt x="15710" y="159"/>
                  <a:pt x="15430" y="152"/>
                </a:cubicBezTo>
                <a:cubicBezTo>
                  <a:pt x="15417" y="154"/>
                  <a:pt x="15401" y="153"/>
                  <a:pt x="15384" y="151"/>
                </a:cubicBezTo>
                <a:cubicBezTo>
                  <a:pt x="15200" y="145"/>
                  <a:pt x="15039" y="135"/>
                  <a:pt x="15013" y="117"/>
                </a:cubicBezTo>
                <a:cubicBezTo>
                  <a:pt x="14989" y="100"/>
                  <a:pt x="14849" y="102"/>
                  <a:pt x="14700" y="112"/>
                </a:cubicBezTo>
                <a:cubicBezTo>
                  <a:pt x="14666" y="121"/>
                  <a:pt x="14620" y="125"/>
                  <a:pt x="14551" y="127"/>
                </a:cubicBezTo>
                <a:cubicBezTo>
                  <a:pt x="14429" y="140"/>
                  <a:pt x="14317" y="158"/>
                  <a:pt x="14288" y="176"/>
                </a:cubicBezTo>
                <a:cubicBezTo>
                  <a:pt x="14257" y="196"/>
                  <a:pt x="14224" y="278"/>
                  <a:pt x="14215" y="359"/>
                </a:cubicBezTo>
                <a:cubicBezTo>
                  <a:pt x="14193" y="546"/>
                  <a:pt x="13945" y="654"/>
                  <a:pt x="13819" y="532"/>
                </a:cubicBezTo>
                <a:cubicBezTo>
                  <a:pt x="13754" y="470"/>
                  <a:pt x="13710" y="463"/>
                  <a:pt x="13647" y="508"/>
                </a:cubicBezTo>
                <a:cubicBezTo>
                  <a:pt x="13584" y="552"/>
                  <a:pt x="13550" y="544"/>
                  <a:pt x="13514" y="477"/>
                </a:cubicBezTo>
                <a:cubicBezTo>
                  <a:pt x="13487" y="427"/>
                  <a:pt x="13484" y="373"/>
                  <a:pt x="13508" y="356"/>
                </a:cubicBezTo>
                <a:cubicBezTo>
                  <a:pt x="13533" y="339"/>
                  <a:pt x="13519" y="282"/>
                  <a:pt x="13480" y="230"/>
                </a:cubicBezTo>
                <a:cubicBezTo>
                  <a:pt x="13448" y="188"/>
                  <a:pt x="13365" y="162"/>
                  <a:pt x="13274" y="153"/>
                </a:cubicBezTo>
                <a:cubicBezTo>
                  <a:pt x="13259" y="154"/>
                  <a:pt x="13244" y="155"/>
                  <a:pt x="13231" y="159"/>
                </a:cubicBezTo>
                <a:cubicBezTo>
                  <a:pt x="13188" y="170"/>
                  <a:pt x="13150" y="168"/>
                  <a:pt x="13119" y="154"/>
                </a:cubicBezTo>
                <a:cubicBezTo>
                  <a:pt x="13065" y="162"/>
                  <a:pt x="13016" y="175"/>
                  <a:pt x="12983" y="198"/>
                </a:cubicBezTo>
                <a:cubicBezTo>
                  <a:pt x="12956" y="218"/>
                  <a:pt x="12878" y="198"/>
                  <a:pt x="12809" y="154"/>
                </a:cubicBezTo>
                <a:cubicBezTo>
                  <a:pt x="12696" y="82"/>
                  <a:pt x="12663" y="88"/>
                  <a:pt x="12477" y="209"/>
                </a:cubicBezTo>
                <a:cubicBezTo>
                  <a:pt x="12477" y="209"/>
                  <a:pt x="12476" y="209"/>
                  <a:pt x="12476" y="210"/>
                </a:cubicBezTo>
                <a:cubicBezTo>
                  <a:pt x="12476" y="236"/>
                  <a:pt x="12455" y="252"/>
                  <a:pt x="12402" y="267"/>
                </a:cubicBezTo>
                <a:cubicBezTo>
                  <a:pt x="12390" y="270"/>
                  <a:pt x="12379" y="271"/>
                  <a:pt x="12367" y="273"/>
                </a:cubicBezTo>
                <a:cubicBezTo>
                  <a:pt x="12281" y="315"/>
                  <a:pt x="12227" y="317"/>
                  <a:pt x="12171" y="285"/>
                </a:cubicBezTo>
                <a:cubicBezTo>
                  <a:pt x="12098" y="242"/>
                  <a:pt x="12028" y="242"/>
                  <a:pt x="11909" y="287"/>
                </a:cubicBezTo>
                <a:cubicBezTo>
                  <a:pt x="11769" y="340"/>
                  <a:pt x="11714" y="327"/>
                  <a:pt x="11511" y="193"/>
                </a:cubicBezTo>
                <a:cubicBezTo>
                  <a:pt x="11309" y="58"/>
                  <a:pt x="11244" y="43"/>
                  <a:pt x="11051" y="82"/>
                </a:cubicBezTo>
                <a:cubicBezTo>
                  <a:pt x="10910" y="111"/>
                  <a:pt x="10753" y="106"/>
                  <a:pt x="10627" y="70"/>
                </a:cubicBezTo>
                <a:cubicBezTo>
                  <a:pt x="10517" y="39"/>
                  <a:pt x="10356" y="29"/>
                  <a:pt x="10269" y="49"/>
                </a:cubicBezTo>
                <a:cubicBezTo>
                  <a:pt x="10253" y="52"/>
                  <a:pt x="10235" y="54"/>
                  <a:pt x="10218" y="55"/>
                </a:cubicBezTo>
                <a:cubicBezTo>
                  <a:pt x="10137" y="71"/>
                  <a:pt x="10076" y="64"/>
                  <a:pt x="10020" y="32"/>
                </a:cubicBezTo>
                <a:cubicBezTo>
                  <a:pt x="9990" y="14"/>
                  <a:pt x="9951" y="5"/>
                  <a:pt x="9903" y="2"/>
                </a:cubicBezTo>
                <a:cubicBezTo>
                  <a:pt x="9877" y="7"/>
                  <a:pt x="9851" y="20"/>
                  <a:pt x="9821" y="46"/>
                </a:cubicBezTo>
                <a:cubicBezTo>
                  <a:pt x="9728" y="125"/>
                  <a:pt x="9396" y="111"/>
                  <a:pt x="9134" y="16"/>
                </a:cubicBezTo>
                <a:cubicBezTo>
                  <a:pt x="9113" y="9"/>
                  <a:pt x="9093" y="4"/>
                  <a:pt x="9076" y="1"/>
                </a:cubicBezTo>
                <a:close/>
                <a:moveTo>
                  <a:pt x="13812" y="181"/>
                </a:moveTo>
                <a:cubicBezTo>
                  <a:pt x="13682" y="181"/>
                  <a:pt x="13675" y="268"/>
                  <a:pt x="13801" y="304"/>
                </a:cubicBezTo>
                <a:cubicBezTo>
                  <a:pt x="13956" y="348"/>
                  <a:pt x="13995" y="339"/>
                  <a:pt x="13963" y="271"/>
                </a:cubicBezTo>
                <a:cubicBezTo>
                  <a:pt x="13936" y="252"/>
                  <a:pt x="13908" y="232"/>
                  <a:pt x="13877" y="207"/>
                </a:cubicBezTo>
                <a:cubicBezTo>
                  <a:pt x="13865" y="198"/>
                  <a:pt x="13860" y="194"/>
                  <a:pt x="13850" y="186"/>
                </a:cubicBezTo>
                <a:cubicBezTo>
                  <a:pt x="13837" y="183"/>
                  <a:pt x="13824" y="181"/>
                  <a:pt x="13812" y="181"/>
                </a:cubicBezTo>
                <a:close/>
              </a:path>
            </a:pathLst>
          </a:custGeom>
          <a:ln w="12700">
            <a:miter lim="400000"/>
          </a:ln>
        </p:spPr>
      </p:pic>
      <p:sp>
        <p:nvSpPr>
          <p:cNvPr id="134" name="Example…"/>
          <p:cNvSpPr txBox="1">
            <a:spLocks noGrp="1"/>
          </p:cNvSpPr>
          <p:nvPr>
            <p:ph type="title"/>
          </p:nvPr>
        </p:nvSpPr>
        <p:spPr>
          <a:xfrm>
            <a:off x="9712884" y="599874"/>
            <a:ext cx="2371217" cy="1525807"/>
          </a:xfrm>
          <a:prstGeom prst="rect">
            <a:avLst/>
          </a:prstGeom>
        </p:spPr>
        <p:txBody>
          <a:bodyPr>
            <a:normAutofit/>
          </a:bodyPr>
          <a:lstStyle/>
          <a:p>
            <a:pPr defTabSz="231140">
              <a:defRPr sz="4872"/>
            </a:pPr>
            <a:r>
              <a:rPr sz="2400" b="1" dirty="0">
                <a:latin typeface="Calibri" panose="020F0502020204030204" pitchFamily="34" charset="0"/>
                <a:cs typeface="Calibri" panose="020F0502020204030204" pitchFamily="34" charset="0"/>
              </a:rPr>
              <a:t>The Derynia icon</a:t>
            </a:r>
          </a:p>
        </p:txBody>
      </p:sp>
      <p:pic>
        <p:nvPicPr>
          <p:cNvPr id="135" name="Image" descr="Image"/>
          <p:cNvPicPr>
            <a:picLocks noChangeAspect="1"/>
          </p:cNvPicPr>
          <p:nvPr/>
        </p:nvPicPr>
        <p:blipFill>
          <a:blip r:embed="rId3"/>
          <a:stretch>
            <a:fillRect/>
          </a:stretch>
        </p:blipFill>
        <p:spPr>
          <a:xfrm>
            <a:off x="284657" y="77338"/>
            <a:ext cx="4492321" cy="6703324"/>
          </a:xfrm>
          <a:prstGeom prst="rect">
            <a:avLst/>
          </a:prstGeom>
          <a:ln w="12700">
            <a:miter lim="400000"/>
          </a:ln>
        </p:spPr>
      </p:pic>
      <p:sp>
        <p:nvSpPr>
          <p:cNvPr id="136" name="The icon originates from the church of the Birth of the Virgin, built in the 15th / 16th century in Deryneia, Cyprus.…"/>
          <p:cNvSpPr txBox="1"/>
          <p:nvPr/>
        </p:nvSpPr>
        <p:spPr>
          <a:xfrm>
            <a:off x="9847873" y="1693676"/>
            <a:ext cx="2248395" cy="50759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Autofit/>
          </a:bodyPr>
          <a:lstStyle/>
          <a:p>
            <a:pPr defTabSz="235267">
              <a:defRPr sz="4959" b="0">
                <a:latin typeface="Optima"/>
                <a:ea typeface="Optima"/>
                <a:cs typeface="Optima"/>
                <a:sym typeface="Optima"/>
              </a:defRPr>
            </a:pPr>
            <a:r>
              <a:rPr sz="2000" dirty="0">
                <a:latin typeface="Calibri" panose="020F0502020204030204" pitchFamily="34" charset="0"/>
                <a:cs typeface="Calibri" panose="020F0502020204030204" pitchFamily="34" charset="0"/>
              </a:rPr>
              <a:t>The icon originates from the church of the Birth of the Virgin, built in the 15</a:t>
            </a:r>
            <a:r>
              <a:rPr sz="2000" baseline="31999" dirty="0">
                <a:latin typeface="Calibri" panose="020F0502020204030204" pitchFamily="34" charset="0"/>
                <a:cs typeface="Calibri" panose="020F0502020204030204" pitchFamily="34" charset="0"/>
              </a:rPr>
              <a:t>th </a:t>
            </a:r>
            <a:r>
              <a:rPr sz="2000" dirty="0">
                <a:latin typeface="Calibri" panose="020F0502020204030204" pitchFamily="34" charset="0"/>
                <a:cs typeface="Calibri" panose="020F0502020204030204" pitchFamily="34" charset="0"/>
              </a:rPr>
              <a:t>/ 16</a:t>
            </a:r>
            <a:r>
              <a:rPr sz="2000" baseline="31999" dirty="0">
                <a:latin typeface="Calibri" panose="020F0502020204030204" pitchFamily="34" charset="0"/>
                <a:cs typeface="Calibri" panose="020F0502020204030204" pitchFamily="34" charset="0"/>
              </a:rPr>
              <a:t>th</a:t>
            </a:r>
            <a:r>
              <a:rPr sz="2000" dirty="0">
                <a:latin typeface="Calibri" panose="020F0502020204030204" pitchFamily="34" charset="0"/>
                <a:cs typeface="Calibri" panose="020F0502020204030204" pitchFamily="34" charset="0"/>
              </a:rPr>
              <a:t> century in </a:t>
            </a:r>
            <a:r>
              <a:rPr sz="2000" dirty="0" err="1">
                <a:latin typeface="Calibri" panose="020F0502020204030204" pitchFamily="34" charset="0"/>
                <a:cs typeface="Calibri" panose="020F0502020204030204" pitchFamily="34" charset="0"/>
              </a:rPr>
              <a:t>Deryneia</a:t>
            </a:r>
            <a:r>
              <a:rPr sz="2000" dirty="0">
                <a:latin typeface="Calibri" panose="020F0502020204030204" pitchFamily="34" charset="0"/>
                <a:cs typeface="Calibri" panose="020F0502020204030204" pitchFamily="34" charset="0"/>
              </a:rPr>
              <a:t>, Cyprus. </a:t>
            </a:r>
          </a:p>
          <a:p>
            <a:pPr defTabSz="235267">
              <a:defRPr sz="4959" b="0">
                <a:latin typeface="Optima"/>
                <a:ea typeface="Optima"/>
                <a:cs typeface="Optima"/>
                <a:sym typeface="Optima"/>
              </a:defRPr>
            </a:pPr>
            <a:r>
              <a:rPr sz="2000" dirty="0">
                <a:latin typeface="Calibri" panose="020F0502020204030204" pitchFamily="34" charset="0"/>
                <a:cs typeface="Calibri" panose="020F0502020204030204" pitchFamily="34" charset="0"/>
              </a:rPr>
              <a:t>The white frame delineates the XRF scanning area. </a:t>
            </a:r>
          </a:p>
        </p:txBody>
      </p:sp>
      <p:sp>
        <p:nvSpPr>
          <p:cNvPr id="137" name="Rectangle"/>
          <p:cNvSpPr/>
          <p:nvPr/>
        </p:nvSpPr>
        <p:spPr>
          <a:xfrm>
            <a:off x="628680" y="1086117"/>
            <a:ext cx="3804275" cy="5161463"/>
          </a:xfrm>
          <a:prstGeom prst="rect">
            <a:avLst/>
          </a:prstGeom>
          <a:ln w="50800">
            <a:solidFill>
              <a:srgbClr val="FFFFFF"/>
            </a:solidFill>
            <a:miter lim="400000"/>
          </a:ln>
        </p:spPr>
        <p:txBody>
          <a:bodyPr lIns="25400" tIns="25400" rIns="25400" bIns="25400" anchor="ctr"/>
          <a:lstStyle/>
          <a:p>
            <a:pPr>
              <a:defRPr sz="3200" b="0">
                <a:latin typeface="+mn-lt"/>
                <a:ea typeface="+mn-ea"/>
                <a:cs typeface="+mn-cs"/>
                <a:sym typeface="Helvetica Neue Medium"/>
              </a:defRPr>
            </a:pPr>
            <a:endParaRPr sz="160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5DDD83C-F06B-0E69-AEAC-935C0FDD198C}"/>
              </a:ext>
            </a:extLst>
          </p:cNvPr>
          <p:cNvSpPr>
            <a:spLocks noGrp="1"/>
          </p:cNvSpPr>
          <p:nvPr>
            <p:ph type="pic" idx="1"/>
          </p:nvPr>
        </p:nvSpPr>
        <p:spPr/>
      </p:sp>
      <p:sp>
        <p:nvSpPr>
          <p:cNvPr id="149" name="Biography"/>
          <p:cNvSpPr txBox="1">
            <a:spLocks noGrp="1"/>
          </p:cNvSpPr>
          <p:nvPr>
            <p:ph type="title"/>
          </p:nvPr>
        </p:nvSpPr>
        <p:spPr>
          <a:prstGeom prst="rect">
            <a:avLst/>
          </a:prstGeom>
          <a:noFill/>
        </p:spPr>
        <p:txBody>
          <a:bodyPr>
            <a:normAutofit/>
          </a:bodyPr>
          <a:lstStyle>
            <a:lvl1pPr defTabSz="437514">
              <a:defRPr sz="5935" b="1">
                <a:solidFill>
                  <a:schemeClr val="accent1">
                    <a:hueOff val="373667"/>
                    <a:lumOff val="-17254"/>
                  </a:schemeClr>
                </a:solidFill>
              </a:defRPr>
            </a:lvl1pPr>
          </a:lstStyle>
          <a:p>
            <a:r>
              <a:rPr lang="en-GB" sz="4200" dirty="0">
                <a:latin typeface="Calibri" panose="020F0502020204030204" pitchFamily="34" charset="0"/>
                <a:cs typeface="Calibri" panose="020F0502020204030204" pitchFamily="34" charset="0"/>
              </a:rPr>
              <a:t>Art Characterisation</a:t>
            </a:r>
          </a:p>
        </p:txBody>
      </p:sp>
      <p:grpSp>
        <p:nvGrpSpPr>
          <p:cNvPr id="12" name="Group 11">
            <a:extLst>
              <a:ext uri="{FF2B5EF4-FFF2-40B4-BE49-F238E27FC236}">
                <a16:creationId xmlns:a16="http://schemas.microsoft.com/office/drawing/2014/main" id="{F501DC6E-3DD2-19C2-3F43-8A51C2354F0E}"/>
              </a:ext>
            </a:extLst>
          </p:cNvPr>
          <p:cNvGrpSpPr/>
          <p:nvPr/>
        </p:nvGrpSpPr>
        <p:grpSpPr>
          <a:xfrm>
            <a:off x="1424409" y="-713234"/>
            <a:ext cx="8483006" cy="8483006"/>
            <a:chOff x="1780867" y="-713234"/>
            <a:chExt cx="8483006" cy="8483006"/>
          </a:xfrm>
        </p:grpSpPr>
        <p:pic>
          <p:nvPicPr>
            <p:cNvPr id="2" name="Content Placeholder 5" descr="Puzzle pieces with solid fill">
              <a:extLst>
                <a:ext uri="{FF2B5EF4-FFF2-40B4-BE49-F238E27FC236}">
                  <a16:creationId xmlns:a16="http://schemas.microsoft.com/office/drawing/2014/main" id="{781FBAAC-9A6B-DBD5-BB6F-4E313D4AE6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0867" y="-713234"/>
              <a:ext cx="8483006" cy="8483006"/>
            </a:xfrm>
            <a:prstGeom prst="rect">
              <a:avLst/>
            </a:prstGeom>
          </p:spPr>
        </p:pic>
        <p:sp>
          <p:nvSpPr>
            <p:cNvPr id="154" name="Properties"/>
            <p:cNvSpPr txBox="1"/>
            <p:nvPr/>
          </p:nvSpPr>
          <p:spPr>
            <a:xfrm>
              <a:off x="3127957" y="4735937"/>
              <a:ext cx="2010845" cy="202650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defTabSz="437514">
                <a:defRPr sz="5935">
                  <a:solidFill>
                    <a:schemeClr val="accent1">
                      <a:hueOff val="373667"/>
                      <a:lumOff val="-17254"/>
                    </a:schemeClr>
                  </a:solidFill>
                  <a:latin typeface="Optima"/>
                  <a:ea typeface="Optima"/>
                  <a:cs typeface="Optima"/>
                  <a:sym typeface="Optima"/>
                </a:defRPr>
              </a:lvl1pPr>
            </a:lstStyle>
            <a:p>
              <a:pPr>
                <a:spcBef>
                  <a:spcPct val="0"/>
                </a:spcBef>
              </a:pPr>
              <a:r>
                <a:rPr lang="en-GB" sz="1800" b="1" dirty="0">
                  <a:latin typeface="Calibri" panose="020F0502020204030204" pitchFamily="34" charset="0"/>
                  <a:cs typeface="Calibri" panose="020F0502020204030204" pitchFamily="34" charset="0"/>
                </a:rPr>
                <a:t>Physical properties</a:t>
              </a:r>
            </a:p>
            <a:p>
              <a:pPr>
                <a:spcBef>
                  <a:spcPct val="0"/>
                </a:spcBef>
              </a:pPr>
              <a:r>
                <a:rPr lang="en-GB" sz="1600" dirty="0">
                  <a:latin typeface="Calibri" panose="020F0502020204030204" pitchFamily="34" charset="0"/>
                  <a:cs typeface="Calibri" panose="020F0502020204030204" pitchFamily="34" charset="0"/>
                </a:rPr>
                <a:t>Structure</a:t>
              </a:r>
            </a:p>
            <a:p>
              <a:pPr>
                <a:spcBef>
                  <a:spcPct val="0"/>
                </a:spcBef>
              </a:pPr>
              <a:r>
                <a:rPr lang="en-GB" sz="1600" dirty="0">
                  <a:latin typeface="Calibri" panose="020F0502020204030204" pitchFamily="34" charset="0"/>
                  <a:cs typeface="Calibri" panose="020F0502020204030204" pitchFamily="34" charset="0"/>
                </a:rPr>
                <a:t>Dimensions</a:t>
              </a:r>
            </a:p>
            <a:p>
              <a:pPr>
                <a:spcBef>
                  <a:spcPct val="0"/>
                </a:spcBef>
              </a:pPr>
              <a:r>
                <a:rPr lang="en-GB" sz="1600" dirty="0">
                  <a:latin typeface="Calibri" panose="020F0502020204030204" pitchFamily="34" charset="0"/>
                  <a:cs typeface="Calibri" panose="020F0502020204030204" pitchFamily="34" charset="0"/>
                </a:rPr>
                <a:t>Materiality</a:t>
              </a:r>
            </a:p>
            <a:p>
              <a:pPr>
                <a:spcBef>
                  <a:spcPct val="0"/>
                </a:spcBef>
              </a:pPr>
              <a:r>
                <a:rPr lang="en-GB" sz="1600" dirty="0">
                  <a:latin typeface="Calibri" panose="020F0502020204030204" pitchFamily="34" charset="0"/>
                  <a:cs typeface="Calibri" panose="020F0502020204030204" pitchFamily="34" charset="0"/>
                </a:rPr>
                <a:t>Technique</a:t>
              </a:r>
            </a:p>
            <a:p>
              <a:pPr>
                <a:spcBef>
                  <a:spcPct val="0"/>
                </a:spcBef>
              </a:pPr>
              <a:r>
                <a:rPr lang="en-GB" sz="1600" dirty="0">
                  <a:latin typeface="Calibri" panose="020F0502020204030204" pitchFamily="34" charset="0"/>
                  <a:cs typeface="Calibri" panose="020F0502020204030204" pitchFamily="34" charset="0"/>
                </a:rPr>
                <a:t>Preservation</a:t>
              </a:r>
              <a:endParaRPr sz="1400" dirty="0">
                <a:latin typeface="Calibri" panose="020F0502020204030204" pitchFamily="34" charset="0"/>
                <a:cs typeface="Calibri" panose="020F0502020204030204" pitchFamily="34" charset="0"/>
              </a:endParaRPr>
            </a:p>
          </p:txBody>
        </p:sp>
        <p:sp>
          <p:nvSpPr>
            <p:cNvPr id="3" name="Properties">
              <a:extLst>
                <a:ext uri="{FF2B5EF4-FFF2-40B4-BE49-F238E27FC236}">
                  <a16:creationId xmlns:a16="http://schemas.microsoft.com/office/drawing/2014/main" id="{808E6E96-FBA3-AD7B-0A71-6C2730E1206D}"/>
                </a:ext>
              </a:extLst>
            </p:cNvPr>
            <p:cNvSpPr txBox="1"/>
            <p:nvPr/>
          </p:nvSpPr>
          <p:spPr>
            <a:xfrm>
              <a:off x="6574536" y="4397188"/>
              <a:ext cx="1387978" cy="167213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defTabSz="437514">
                <a:defRPr sz="5935">
                  <a:solidFill>
                    <a:schemeClr val="accent1">
                      <a:hueOff val="373667"/>
                      <a:lumOff val="-17254"/>
                    </a:schemeClr>
                  </a:solidFill>
                  <a:latin typeface="Optima"/>
                  <a:ea typeface="Optima"/>
                  <a:cs typeface="Optima"/>
                  <a:sym typeface="Optima"/>
                </a:defRPr>
              </a:lvl1pPr>
            </a:lstStyle>
            <a:p>
              <a:pPr>
                <a:spcBef>
                  <a:spcPct val="0"/>
                </a:spcBef>
              </a:pPr>
              <a:r>
                <a:rPr lang="en-GB" sz="1800" b="1" dirty="0">
                  <a:latin typeface="Calibri" panose="020F0502020204030204" pitchFamily="34" charset="0"/>
                  <a:cs typeface="Calibri" panose="020F0502020204030204" pitchFamily="34" charset="0"/>
                </a:rPr>
                <a:t>Conservation</a:t>
              </a:r>
            </a:p>
            <a:p>
              <a:pPr>
                <a:spcBef>
                  <a:spcPct val="0"/>
                </a:spcBef>
              </a:pPr>
              <a:r>
                <a:rPr lang="en-GB" sz="1600" dirty="0">
                  <a:latin typeface="Calibri" panose="020F0502020204030204" pitchFamily="34" charset="0"/>
                  <a:cs typeface="Calibri" panose="020F0502020204030204" pitchFamily="34" charset="0"/>
                </a:rPr>
                <a:t>Treatment</a:t>
              </a:r>
            </a:p>
            <a:p>
              <a:pPr>
                <a:spcBef>
                  <a:spcPct val="0"/>
                </a:spcBef>
              </a:pPr>
              <a:r>
                <a:rPr lang="en-GB" sz="1600" dirty="0">
                  <a:latin typeface="Calibri" panose="020F0502020204030204" pitchFamily="34" charset="0"/>
                  <a:cs typeface="Calibri" panose="020F0502020204030204" pitchFamily="34" charset="0"/>
                </a:rPr>
                <a:t>Restoration</a:t>
              </a:r>
            </a:p>
            <a:p>
              <a:pPr>
                <a:spcBef>
                  <a:spcPct val="0"/>
                </a:spcBef>
              </a:pPr>
              <a:r>
                <a:rPr lang="en-GB" sz="1600" dirty="0">
                  <a:latin typeface="Calibri" panose="020F0502020204030204" pitchFamily="34" charset="0"/>
                  <a:cs typeface="Calibri" panose="020F0502020204030204" pitchFamily="34" charset="0"/>
                </a:rPr>
                <a:t>Prevention</a:t>
              </a:r>
            </a:p>
          </p:txBody>
        </p:sp>
        <p:sp>
          <p:nvSpPr>
            <p:cNvPr id="4" name="Properties">
              <a:extLst>
                <a:ext uri="{FF2B5EF4-FFF2-40B4-BE49-F238E27FC236}">
                  <a16:creationId xmlns:a16="http://schemas.microsoft.com/office/drawing/2014/main" id="{415758A2-AA92-445C-38C0-28356678DDDE}"/>
                </a:ext>
              </a:extLst>
            </p:cNvPr>
            <p:cNvSpPr txBox="1"/>
            <p:nvPr/>
          </p:nvSpPr>
          <p:spPr>
            <a:xfrm>
              <a:off x="6945565" y="782777"/>
              <a:ext cx="1387978" cy="167213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defTabSz="437514">
                <a:defRPr sz="5935">
                  <a:solidFill>
                    <a:schemeClr val="accent1">
                      <a:hueOff val="373667"/>
                      <a:lumOff val="-17254"/>
                    </a:schemeClr>
                  </a:solidFill>
                  <a:latin typeface="Optima"/>
                  <a:ea typeface="Optima"/>
                  <a:cs typeface="Optima"/>
                  <a:sym typeface="Optima"/>
                </a:defRPr>
              </a:lvl1pPr>
            </a:lstStyle>
            <a:p>
              <a:pPr>
                <a:spcBef>
                  <a:spcPct val="0"/>
                </a:spcBef>
              </a:pPr>
              <a:r>
                <a:rPr lang="en-GB" sz="1800" b="1" dirty="0">
                  <a:latin typeface="Calibri" panose="020F0502020204030204" pitchFamily="34" charset="0"/>
                  <a:cs typeface="Calibri" panose="020F0502020204030204" pitchFamily="34" charset="0"/>
                </a:rPr>
                <a:t>Provenance</a:t>
              </a:r>
            </a:p>
            <a:p>
              <a:pPr>
                <a:spcBef>
                  <a:spcPct val="0"/>
                </a:spcBef>
              </a:pPr>
              <a:r>
                <a:rPr lang="en-GB" sz="1600" dirty="0">
                  <a:latin typeface="Calibri" panose="020F0502020204030204" pitchFamily="34" charset="0"/>
                  <a:cs typeface="Calibri" panose="020F0502020204030204" pitchFamily="34" charset="0"/>
                </a:rPr>
                <a:t>Ownership</a:t>
              </a:r>
            </a:p>
            <a:p>
              <a:pPr>
                <a:spcBef>
                  <a:spcPct val="0"/>
                </a:spcBef>
              </a:pPr>
              <a:r>
                <a:rPr lang="en-GB" sz="1600" dirty="0">
                  <a:latin typeface="Calibri" panose="020F0502020204030204" pitchFamily="34" charset="0"/>
                  <a:cs typeface="Calibri" panose="020F0502020204030204" pitchFamily="34" charset="0"/>
                </a:rPr>
                <a:t>Bibliography </a:t>
              </a:r>
            </a:p>
            <a:p>
              <a:pPr>
                <a:spcBef>
                  <a:spcPct val="0"/>
                </a:spcBef>
              </a:pPr>
              <a:r>
                <a:rPr lang="en-GB" sz="1600" dirty="0">
                  <a:latin typeface="Calibri" panose="020F0502020204030204" pitchFamily="34" charset="0"/>
                  <a:cs typeface="Calibri" panose="020F0502020204030204" pitchFamily="34" charset="0"/>
                </a:rPr>
                <a:t>Access</a:t>
              </a:r>
            </a:p>
            <a:p>
              <a:pPr>
                <a:spcBef>
                  <a:spcPct val="0"/>
                </a:spcBef>
              </a:pPr>
              <a:r>
                <a:rPr lang="en-GB" sz="1600" dirty="0">
                  <a:latin typeface="Calibri" panose="020F0502020204030204" pitchFamily="34" charset="0"/>
                  <a:cs typeface="Calibri" panose="020F0502020204030204" pitchFamily="34" charset="0"/>
                </a:rPr>
                <a:t>Attestations</a:t>
              </a:r>
              <a:endParaRPr sz="1600" dirty="0">
                <a:latin typeface="Calibri" panose="020F0502020204030204" pitchFamily="34" charset="0"/>
                <a:cs typeface="Calibri" panose="020F0502020204030204" pitchFamily="34" charset="0"/>
              </a:endParaRPr>
            </a:p>
          </p:txBody>
        </p:sp>
        <p:sp>
          <p:nvSpPr>
            <p:cNvPr id="10" name="Properties">
              <a:extLst>
                <a:ext uri="{FF2B5EF4-FFF2-40B4-BE49-F238E27FC236}">
                  <a16:creationId xmlns:a16="http://schemas.microsoft.com/office/drawing/2014/main" id="{0AF60AA7-D61C-0FD2-EFD3-003497075740}"/>
                </a:ext>
              </a:extLst>
            </p:cNvPr>
            <p:cNvSpPr txBox="1"/>
            <p:nvPr/>
          </p:nvSpPr>
          <p:spPr>
            <a:xfrm>
              <a:off x="3051757" y="1753330"/>
              <a:ext cx="2010845" cy="202650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defTabSz="437514">
                <a:defRPr sz="5935">
                  <a:solidFill>
                    <a:schemeClr val="accent1">
                      <a:hueOff val="373667"/>
                      <a:lumOff val="-17254"/>
                    </a:schemeClr>
                  </a:solidFill>
                  <a:latin typeface="Optima"/>
                  <a:ea typeface="Optima"/>
                  <a:cs typeface="Optima"/>
                  <a:sym typeface="Optima"/>
                </a:defRPr>
              </a:lvl1pPr>
            </a:lstStyle>
            <a:p>
              <a:pPr>
                <a:spcBef>
                  <a:spcPct val="0"/>
                </a:spcBef>
              </a:pPr>
              <a:r>
                <a:rPr lang="en-GB" sz="1800" b="1" dirty="0">
                  <a:latin typeface="Calibri" panose="020F0502020204030204" pitchFamily="34" charset="0"/>
                  <a:cs typeface="Calibri" panose="020F0502020204030204" pitchFamily="34" charset="0"/>
                </a:rPr>
                <a:t>Biography</a:t>
              </a:r>
              <a:br>
                <a:rPr lang="en-GB" sz="1800" b="1" dirty="0">
                  <a:latin typeface="Calibri" panose="020F0502020204030204" pitchFamily="34" charset="0"/>
                  <a:cs typeface="Calibri" panose="020F0502020204030204" pitchFamily="34" charset="0"/>
                </a:rPr>
              </a:br>
              <a:r>
                <a:rPr lang="en-GB" sz="1800" dirty="0">
                  <a:latin typeface="Calibri" panose="020F0502020204030204" pitchFamily="34" charset="0"/>
                  <a:cs typeface="Calibri" panose="020F0502020204030204" pitchFamily="34" charset="0"/>
                </a:rPr>
                <a:t>Genre</a:t>
              </a:r>
              <a:br>
                <a:rPr lang="en-GB" sz="1800" dirty="0">
                  <a:latin typeface="Calibri" panose="020F0502020204030204" pitchFamily="34" charset="0"/>
                  <a:cs typeface="Calibri" panose="020F0502020204030204" pitchFamily="34" charset="0"/>
                </a:rPr>
              </a:br>
              <a:r>
                <a:rPr lang="en-GB" sz="1800" dirty="0">
                  <a:latin typeface="Calibri" panose="020F0502020204030204" pitchFamily="34" charset="0"/>
                  <a:cs typeface="Calibri" panose="020F0502020204030204" pitchFamily="34" charset="0"/>
                </a:rPr>
                <a:t>History</a:t>
              </a:r>
              <a:br>
                <a:rPr lang="en-GB" sz="1800" dirty="0">
                  <a:latin typeface="Calibri" panose="020F0502020204030204" pitchFamily="34" charset="0"/>
                  <a:cs typeface="Calibri" panose="020F0502020204030204" pitchFamily="34" charset="0"/>
                </a:rPr>
              </a:br>
              <a:r>
                <a:rPr lang="en-GB" sz="1800" dirty="0">
                  <a:latin typeface="Calibri" panose="020F0502020204030204" pitchFamily="34" charset="0"/>
                  <a:cs typeface="Calibri" panose="020F0502020204030204" pitchFamily="34" charset="0"/>
                </a:rPr>
                <a:t>Visual analysis</a:t>
              </a:r>
              <a:br>
                <a:rPr lang="en-GB" sz="1800" dirty="0">
                  <a:latin typeface="Calibri" panose="020F0502020204030204" pitchFamily="34" charset="0"/>
                  <a:cs typeface="Calibri" panose="020F0502020204030204" pitchFamily="34" charset="0"/>
                </a:rPr>
              </a:br>
              <a:r>
                <a:rPr lang="en-GB" sz="1800" dirty="0">
                  <a:latin typeface="Calibri" panose="020F0502020204030204" pitchFamily="34" charset="0"/>
                  <a:cs typeface="Calibri" panose="020F0502020204030204" pitchFamily="34" charset="0"/>
                </a:rPr>
                <a:t>Intangible aspects</a:t>
              </a:r>
              <a:br>
                <a:rPr lang="en-GB" sz="1800" dirty="0">
                  <a:latin typeface="Calibri" panose="020F0502020204030204" pitchFamily="34" charset="0"/>
                  <a:cs typeface="Calibri" panose="020F0502020204030204" pitchFamily="34" charset="0"/>
                </a:rPr>
              </a:br>
              <a:r>
                <a:rPr lang="en-GB" sz="1800" dirty="0">
                  <a:latin typeface="Calibri" panose="020F0502020204030204" pitchFamily="34" charset="0"/>
                  <a:cs typeface="Calibri" panose="020F0502020204030204" pitchFamily="34" charset="0"/>
                </a:rPr>
                <a:t>Related artworks</a:t>
              </a:r>
              <a:endParaRPr sz="1400" dirty="0">
                <a:latin typeface="Calibri" panose="020F0502020204030204" pitchFamily="34" charset="0"/>
                <a:cs typeface="Calibri" panose="020F0502020204030204" pitchFamily="34" charset="0"/>
              </a:endParaRPr>
            </a:p>
          </p:txBody>
        </p:sp>
      </p:grpSp>
      <p:pic>
        <p:nvPicPr>
          <p:cNvPr id="11" name="Image" descr="Image">
            <a:extLst>
              <a:ext uri="{FF2B5EF4-FFF2-40B4-BE49-F238E27FC236}">
                <a16:creationId xmlns:a16="http://schemas.microsoft.com/office/drawing/2014/main" id="{A80E7EC3-E4BA-2D5D-335D-422DBD3C1598}"/>
              </a:ext>
            </a:extLst>
          </p:cNvPr>
          <p:cNvPicPr>
            <a:picLocks noChangeAspect="1"/>
          </p:cNvPicPr>
          <p:nvPr/>
        </p:nvPicPr>
        <p:blipFill>
          <a:blip r:embed="rId5"/>
          <a:srcRect l="18861" r="18861"/>
          <a:stretch>
            <a:fillRect/>
          </a:stretch>
        </p:blipFill>
        <p:spPr>
          <a:xfrm>
            <a:off x="9309702" y="1374"/>
            <a:ext cx="2862370" cy="6857999"/>
          </a:xfrm>
          <a:prstGeom prst="rect">
            <a:avLst/>
          </a:prstGeom>
          <a:ln w="12700">
            <a:miter lim="400000"/>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Experimental conditions…"/>
          <p:cNvSpPr txBox="1">
            <a:spLocks noGrp="1"/>
          </p:cNvSpPr>
          <p:nvPr>
            <p:ph idx="1"/>
          </p:nvPr>
        </p:nvSpPr>
        <p:spPr>
          <a:xfrm>
            <a:off x="613348" y="1973687"/>
            <a:ext cx="7361419" cy="4500025"/>
          </a:xfrm>
          <a:prstGeom prst="rect">
            <a:avLst/>
          </a:prstGeom>
          <a:ln w="25400">
            <a:noFill/>
          </a:ln>
        </p:spPr>
        <p:txBody>
          <a:bodyPr>
            <a:normAutofit fontScale="40000" lnSpcReduction="20000"/>
          </a:bodyPr>
          <a:lstStyle/>
          <a:p>
            <a:pPr marL="295275" indent="-295275" defTabSz="383858">
              <a:spcBef>
                <a:spcPts val="2700"/>
              </a:spcBef>
              <a:defRPr sz="4464"/>
            </a:pPr>
            <a:r>
              <a:rPr dirty="0">
                <a:latin typeface="Calibri" panose="020F0502020204030204" pitchFamily="34" charset="0"/>
                <a:cs typeface="Calibri" panose="020F0502020204030204" pitchFamily="34" charset="0"/>
              </a:rPr>
              <a:t>Experimental conditions</a:t>
            </a:r>
          </a:p>
          <a:p>
            <a:pPr marL="590550" lvl="1" indent="-295275" defTabSz="383858">
              <a:spcBef>
                <a:spcPts val="250"/>
              </a:spcBef>
              <a:defRPr sz="4464"/>
            </a:pPr>
            <a:r>
              <a:rPr dirty="0">
                <a:latin typeface="Calibri" panose="020F0502020204030204" pitchFamily="34" charset="0"/>
                <a:cs typeface="Calibri" panose="020F0502020204030204" pitchFamily="34" charset="0"/>
              </a:rPr>
              <a:t>Data acquisition: 365-nm; </a:t>
            </a:r>
          </a:p>
          <a:p>
            <a:pPr marL="590550" lvl="1" indent="-295275" defTabSz="383858">
              <a:spcBef>
                <a:spcPts val="250"/>
              </a:spcBef>
              <a:defRPr sz="4464"/>
            </a:pPr>
            <a:r>
              <a:rPr dirty="0">
                <a:latin typeface="Calibri" panose="020F0502020204030204" pitchFamily="34" charset="0"/>
                <a:cs typeface="Calibri" panose="020F0502020204030204" pitchFamily="34" charset="0"/>
              </a:rPr>
              <a:t>Size area: 25 x 17 cm2; </a:t>
            </a:r>
          </a:p>
          <a:p>
            <a:pPr marL="590550" lvl="1" indent="-295275" defTabSz="383858">
              <a:spcBef>
                <a:spcPts val="250"/>
              </a:spcBef>
              <a:defRPr sz="4464"/>
            </a:pPr>
            <a:r>
              <a:rPr dirty="0">
                <a:latin typeface="Calibri" panose="020F0502020204030204" pitchFamily="34" charset="0"/>
                <a:cs typeface="Calibri" panose="020F0502020204030204" pitchFamily="34" charset="0"/>
              </a:rPr>
              <a:t>Step size: 500-µm step size / 80-ms of dwell time per pixel; </a:t>
            </a:r>
          </a:p>
          <a:p>
            <a:pPr marL="590550" lvl="1" indent="-295275" defTabSz="383858">
              <a:spcBef>
                <a:spcPts val="250"/>
              </a:spcBef>
              <a:defRPr sz="4464"/>
            </a:pPr>
            <a:r>
              <a:rPr dirty="0">
                <a:latin typeface="Calibri" panose="020F0502020204030204" pitchFamily="34" charset="0"/>
                <a:cs typeface="Calibri" panose="020F0502020204030204" pitchFamily="34" charset="0"/>
              </a:rPr>
              <a:t>Time of scan: 3h30 min;</a:t>
            </a:r>
          </a:p>
          <a:p>
            <a:pPr marL="590550" lvl="1" indent="-295275" defTabSz="383858">
              <a:spcBef>
                <a:spcPts val="250"/>
              </a:spcBef>
              <a:defRPr sz="4464"/>
            </a:pPr>
            <a:endParaRPr dirty="0">
              <a:latin typeface="Calibri" panose="020F0502020204030204" pitchFamily="34" charset="0"/>
              <a:cs typeface="Calibri" panose="020F0502020204030204" pitchFamily="34" charset="0"/>
            </a:endParaRPr>
          </a:p>
          <a:p>
            <a:pPr marL="590550" lvl="1" indent="-295275" defTabSz="383858">
              <a:spcBef>
                <a:spcPts val="250"/>
              </a:spcBef>
              <a:defRPr sz="4464"/>
            </a:pPr>
            <a:r>
              <a:rPr dirty="0">
                <a:latin typeface="Calibri" panose="020F0502020204030204" pitchFamily="34" charset="0"/>
                <a:cs typeface="Calibri" panose="020F0502020204030204" pitchFamily="34" charset="0"/>
              </a:rPr>
              <a:t>XRF - X-Ray generator operated at 40 kV and 500 µA </a:t>
            </a:r>
          </a:p>
          <a:p>
            <a:pPr marL="590550" lvl="1" indent="-295275" defTabSz="383858">
              <a:spcBef>
                <a:spcPts val="250"/>
              </a:spcBef>
              <a:defRPr sz="4464"/>
            </a:pPr>
            <a:r>
              <a:rPr dirty="0">
                <a:latin typeface="Calibri" panose="020F0502020204030204" pitchFamily="34" charset="0"/>
                <a:cs typeface="Calibri" panose="020F0502020204030204" pitchFamily="34" charset="0"/>
              </a:rPr>
              <a:t>RIS - reflectance spectroscopy range 470-820 nm (UV-Vis-NIR)</a:t>
            </a:r>
          </a:p>
          <a:p>
            <a:pPr marL="590550" lvl="1" indent="-295275" defTabSz="383858">
              <a:spcBef>
                <a:spcPts val="250"/>
              </a:spcBef>
              <a:defRPr sz="4464"/>
            </a:pPr>
            <a:r>
              <a:rPr dirty="0">
                <a:latin typeface="Calibri" panose="020F0502020204030204" pitchFamily="34" charset="0"/>
                <a:cs typeface="Calibri" panose="020F0502020204030204" pitchFamily="34" charset="0"/>
              </a:rPr>
              <a:t>LIS - luminescence excitation wavelength - 365 nm, 655 nm</a:t>
            </a:r>
          </a:p>
          <a:p>
            <a:pPr marL="295275" indent="-295275" defTabSz="383858">
              <a:spcBef>
                <a:spcPts val="2700"/>
              </a:spcBef>
              <a:defRPr sz="4464"/>
            </a:pPr>
            <a:r>
              <a:rPr dirty="0">
                <a:latin typeface="Calibri" panose="020F0502020204030204" pitchFamily="34" charset="0"/>
                <a:cs typeface="Calibri" panose="020F0502020204030204" pitchFamily="34" charset="0"/>
              </a:rPr>
              <a:t>Raw data:</a:t>
            </a:r>
          </a:p>
          <a:p>
            <a:pPr marL="590550" lvl="1" indent="-295275" defTabSz="383858">
              <a:spcBef>
                <a:spcPts val="250"/>
              </a:spcBef>
              <a:defRPr sz="4464"/>
            </a:pPr>
            <a:r>
              <a:rPr dirty="0">
                <a:latin typeface="Calibri" panose="020F0502020204030204" pitchFamily="34" charset="0"/>
                <a:cs typeface="Calibri" panose="020F0502020204030204" pitchFamily="34" charset="0"/>
              </a:rPr>
              <a:t>Raw </a:t>
            </a:r>
            <a:r>
              <a:rPr dirty="0" err="1">
                <a:latin typeface="Calibri" panose="020F0502020204030204" pitchFamily="34" charset="0"/>
                <a:cs typeface="Calibri" panose="020F0502020204030204" pitchFamily="34" charset="0"/>
              </a:rPr>
              <a:t>datacube</a:t>
            </a:r>
            <a:r>
              <a:rPr dirty="0">
                <a:latin typeface="Calibri" panose="020F0502020204030204" pitchFamily="34" charset="0"/>
                <a:cs typeface="Calibri" panose="020F0502020204030204" pitchFamily="34" charset="0"/>
              </a:rPr>
              <a:t> size: 498 pixels (h) by 340 pixels (w); </a:t>
            </a:r>
          </a:p>
          <a:p>
            <a:pPr marL="590550" lvl="1" indent="-295275" defTabSz="383858">
              <a:spcBef>
                <a:spcPts val="250"/>
              </a:spcBef>
              <a:defRPr sz="4464"/>
            </a:pPr>
            <a:r>
              <a:rPr dirty="0">
                <a:latin typeface="Calibri" panose="020F0502020204030204" pitchFamily="34" charset="0"/>
                <a:cs typeface="Calibri" panose="020F0502020204030204" pitchFamily="34" charset="0"/>
              </a:rPr>
              <a:t>Total channels 2600: CXRF=512 CRIF=1044 and CLIS=1044 </a:t>
            </a:r>
          </a:p>
        </p:txBody>
      </p:sp>
      <p:sp>
        <p:nvSpPr>
          <p:cNvPr id="159" name="Technical metadata of the in-house built MA-XRF, RIS, LIS scanner"/>
          <p:cNvSpPr txBox="1">
            <a:spLocks noGrp="1"/>
          </p:cNvSpPr>
          <p:nvPr>
            <p:ph type="title"/>
          </p:nvPr>
        </p:nvSpPr>
        <p:spPr>
          <a:prstGeom prst="rect">
            <a:avLst/>
          </a:prstGeom>
        </p:spPr>
        <p:txBody>
          <a:bodyPr>
            <a:noAutofit/>
          </a:bodyPr>
          <a:lstStyle>
            <a:lvl1pPr defTabSz="421004">
              <a:defRPr sz="5712"/>
            </a:lvl1pPr>
          </a:lstStyle>
          <a:p>
            <a:r>
              <a:rPr sz="4800" dirty="0">
                <a:latin typeface="Calibri" panose="020F0502020204030204" pitchFamily="34" charset="0"/>
                <a:cs typeface="Calibri" panose="020F0502020204030204" pitchFamily="34" charset="0"/>
              </a:rPr>
              <a:t>Technical metadata of the in-house built MA-XRF, RIS, LIS scanner</a:t>
            </a:r>
          </a:p>
        </p:txBody>
      </p:sp>
      <p:sp>
        <p:nvSpPr>
          <p:cNvPr id="161" name="Processing software: PyMCA…"/>
          <p:cNvSpPr txBox="1"/>
          <p:nvPr/>
        </p:nvSpPr>
        <p:spPr>
          <a:xfrm>
            <a:off x="7548557" y="1674977"/>
            <a:ext cx="4030095" cy="5097443"/>
          </a:xfrm>
          <a:prstGeom prst="rect">
            <a:avLst/>
          </a:prstGeom>
          <a:ln w="254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fontScale="40000" lnSpcReduction="20000"/>
          </a:bodyPr>
          <a:lstStyle/>
          <a:p>
            <a:pPr marL="699757" indent="-295275" defTabSz="383858">
              <a:lnSpc>
                <a:spcPct val="120000"/>
              </a:lnSpc>
              <a:spcBef>
                <a:spcPts val="250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Processing software: </a:t>
            </a:r>
            <a:r>
              <a:rPr dirty="0" err="1">
                <a:latin typeface="Calibri" panose="020F0502020204030204" pitchFamily="34" charset="0"/>
                <a:cs typeface="Calibri" panose="020F0502020204030204" pitchFamily="34" charset="0"/>
              </a:rPr>
              <a:t>PyMCA</a:t>
            </a:r>
            <a:r>
              <a:rPr dirty="0">
                <a:latin typeface="Calibri" panose="020F0502020204030204" pitchFamily="34" charset="0"/>
                <a:cs typeface="Calibri" panose="020F0502020204030204" pitchFamily="34" charset="0"/>
              </a:rPr>
              <a:t> </a:t>
            </a:r>
            <a:endParaRPr lang="en-GB" dirty="0">
              <a:latin typeface="Calibri" panose="020F0502020204030204" pitchFamily="34" charset="0"/>
              <a:cs typeface="Calibri" panose="020F0502020204030204" pitchFamily="34" charset="0"/>
            </a:endParaRPr>
          </a:p>
          <a:p>
            <a:pPr marL="699757" indent="-295275" defTabSz="383858">
              <a:lnSpc>
                <a:spcPct val="120000"/>
              </a:lnSpc>
              <a:spcBef>
                <a:spcPts val="250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RIS: </a:t>
            </a:r>
          </a:p>
          <a:p>
            <a:pPr marL="1167984" lvl="2" indent="-295275" defTabSz="383858">
              <a:lnSpc>
                <a:spcPct val="120000"/>
              </a:lnSpc>
              <a:spcBef>
                <a:spcPts val="25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Python library </a:t>
            </a:r>
            <a:r>
              <a:rPr dirty="0" err="1">
                <a:latin typeface="Calibri" panose="020F0502020204030204" pitchFamily="34" charset="0"/>
                <a:cs typeface="Calibri" panose="020F0502020204030204" pitchFamily="34" charset="0"/>
              </a:rPr>
              <a:t>pysptools</a:t>
            </a:r>
            <a:r>
              <a:rPr dirty="0">
                <a:latin typeface="Calibri" panose="020F0502020204030204" pitchFamily="34" charset="0"/>
                <a:cs typeface="Calibri" panose="020F0502020204030204" pitchFamily="34" charset="0"/>
              </a:rPr>
              <a:t> 0.15.0 and SPECTRONON software.</a:t>
            </a:r>
          </a:p>
          <a:p>
            <a:pPr marL="1167984" lvl="2" indent="-295275" defTabSz="383858">
              <a:lnSpc>
                <a:spcPct val="120000"/>
              </a:lnSpc>
              <a:spcBef>
                <a:spcPts val="25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Endmembers extracted using NFINDER algorithm implemented in the </a:t>
            </a:r>
            <a:r>
              <a:rPr dirty="0" err="1">
                <a:latin typeface="Calibri" panose="020F0502020204030204" pitchFamily="34" charset="0"/>
                <a:cs typeface="Calibri" panose="020F0502020204030204" pitchFamily="34" charset="0"/>
              </a:rPr>
              <a:t>pysptools</a:t>
            </a:r>
            <a:r>
              <a:rPr dirty="0">
                <a:latin typeface="Calibri" panose="020F0502020204030204" pitchFamily="34" charset="0"/>
                <a:cs typeface="Calibri" panose="020F0502020204030204" pitchFamily="34" charset="0"/>
              </a:rPr>
              <a:t> library. </a:t>
            </a:r>
          </a:p>
          <a:p>
            <a:pPr marL="1167984" lvl="2" indent="-295275" defTabSz="383858">
              <a:lnSpc>
                <a:spcPct val="120000"/>
              </a:lnSpc>
              <a:spcBef>
                <a:spcPts val="25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Spectral Angle Mapper (SAM) was performed with SPECTRONON software. </a:t>
            </a:r>
          </a:p>
          <a:p>
            <a:pPr marL="699757" indent="-295275" defTabSz="383858">
              <a:lnSpc>
                <a:spcPct val="120000"/>
              </a:lnSpc>
              <a:spcBef>
                <a:spcPts val="2500"/>
              </a:spcBef>
              <a:buSzPct val="125000"/>
              <a:buFont typeface="Arial" panose="020B0604020202020204" pitchFamily="34" charset="0"/>
              <a:buChar char="•"/>
              <a:defRPr sz="4464"/>
            </a:pPr>
            <a:r>
              <a:rPr dirty="0">
                <a:latin typeface="Calibri" panose="020F0502020204030204" pitchFamily="34" charset="0"/>
                <a:cs typeface="Calibri" panose="020F0502020204030204" pitchFamily="34" charset="0"/>
              </a:rPr>
              <a:t>LIS: LIS </a:t>
            </a:r>
            <a:r>
              <a:rPr dirty="0" err="1">
                <a:latin typeface="Calibri" panose="020F0502020204030204" pitchFamily="34" charset="0"/>
                <a:cs typeface="Calibri" panose="020F0502020204030204" pitchFamily="34" charset="0"/>
              </a:rPr>
              <a:t>datacube</a:t>
            </a:r>
            <a:r>
              <a:rPr dirty="0">
                <a:latin typeface="Calibri" panose="020F0502020204030204" pitchFamily="34" charset="0"/>
                <a:cs typeface="Calibri" panose="020F0502020204030204" pitchFamily="34" charset="0"/>
              </a:rPr>
              <a:t> processed with </a:t>
            </a:r>
            <a:r>
              <a:rPr dirty="0" err="1">
                <a:latin typeface="Calibri" panose="020F0502020204030204" pitchFamily="34" charset="0"/>
                <a:cs typeface="Calibri" panose="020F0502020204030204" pitchFamily="34" charset="0"/>
              </a:rPr>
              <a:t>PyMCA</a:t>
            </a:r>
            <a:r>
              <a:rPr dirty="0">
                <a:latin typeface="Calibri" panose="020F0502020204030204" pitchFamily="34" charset="0"/>
                <a:cs typeface="Calibri" panose="020F0502020204030204" pitchFamily="34" charset="0"/>
              </a:rPr>
              <a:t> software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F23EA9-F658-76A9-CCD7-BE1F1348FEA0}"/>
              </a:ext>
            </a:extLst>
          </p:cNvPr>
          <p:cNvSpPr>
            <a:spLocks noGrp="1"/>
          </p:cNvSpPr>
          <p:nvPr>
            <p:ph type="body" sz="half" idx="2"/>
          </p:nvPr>
        </p:nvSpPr>
        <p:spPr/>
        <p:txBody>
          <a:bodyPr/>
          <a:lstStyle/>
          <a:p>
            <a:pPr marL="0" indent="0" fontAlgn="ctr">
              <a:buNone/>
            </a:pPr>
            <a:r>
              <a:rPr lang="en-GR" b="1" dirty="0">
                <a:latin typeface="Calibri" panose="020F0502020204030204" pitchFamily="34" charset="0"/>
                <a:cs typeface="Calibri" panose="020F0502020204030204" pitchFamily="34" charset="0"/>
              </a:rPr>
              <a:t>Observations</a:t>
            </a:r>
            <a:endParaRPr lang="en-GR" dirty="0">
              <a:latin typeface="Calibri" panose="020F0502020204030204" pitchFamily="34" charset="0"/>
              <a:cs typeface="Calibri" panose="020F0502020204030204" pitchFamily="34" charset="0"/>
            </a:endParaRPr>
          </a:p>
          <a:p>
            <a:pPr marL="0" indent="0" algn="just" fontAlgn="ctr">
              <a:buNone/>
            </a:pPr>
            <a:r>
              <a:rPr lang="en-GR" dirty="0">
                <a:latin typeface="Calibri" panose="020F0502020204030204" pitchFamily="34" charset="0"/>
                <a:cs typeface="Calibri" panose="020F0502020204030204" pitchFamily="34" charset="0"/>
              </a:rPr>
              <a:t>Low energy Pb-M lines (2.3 keV) relate to surface lead emission. High energy Pb-L lines (10.55 keV) relate to lead deeper within the paint layers. The PyMCA RGB correlator qualitatively assess Pb-L and Pb-M intensity lines: blue denotes a deeper presence of lead (Pb-L signals, not Pb-M), magenta the presence of Pb-L and Pb-M lines, </a:t>
            </a:r>
            <a:r>
              <a:rPr lang="en-GR" i="1" dirty="0">
                <a:latin typeface="Calibri" panose="020F0502020204030204" pitchFamily="34" charset="0"/>
                <a:cs typeface="Calibri" panose="020F0502020204030204" pitchFamily="34" charset="0"/>
              </a:rPr>
              <a:t>i.e. </a:t>
            </a:r>
            <a:r>
              <a:rPr lang="en-GR" dirty="0">
                <a:latin typeface="Calibri" panose="020F0502020204030204" pitchFamily="34" charset="0"/>
                <a:cs typeface="Calibri" panose="020F0502020204030204" pitchFamily="34" charset="0"/>
              </a:rPr>
              <a:t>surface lead.</a:t>
            </a:r>
          </a:p>
          <a:p>
            <a:pPr marL="0" indent="0" fontAlgn="ctr">
              <a:buNone/>
            </a:pPr>
            <a:r>
              <a:rPr lang="en-GR" b="1" dirty="0">
                <a:latin typeface="Calibri" panose="020F0502020204030204" pitchFamily="34" charset="0"/>
                <a:cs typeface="Calibri" panose="020F0502020204030204" pitchFamily="34" charset="0"/>
              </a:rPr>
              <a:t>Derivate Statements</a:t>
            </a:r>
            <a:endParaRPr lang="en-GR" dirty="0">
              <a:latin typeface="Calibri" panose="020F0502020204030204" pitchFamily="34" charset="0"/>
              <a:cs typeface="Calibri" panose="020F0502020204030204" pitchFamily="34" charset="0"/>
            </a:endParaRPr>
          </a:p>
          <a:p>
            <a:pPr marL="0" indent="0" algn="just" fontAlgn="ctr">
              <a:buNone/>
            </a:pPr>
            <a:r>
              <a:rPr lang="en-GR" dirty="0">
                <a:latin typeface="Calibri" panose="020F0502020204030204" pitchFamily="34" charset="0"/>
                <a:cs typeface="Calibri" panose="020F0502020204030204" pitchFamily="34" charset="0"/>
              </a:rPr>
              <a:t>Lead white was used to tint flesh and clothing folds. The cave, the star rays, Mary’s mattress edges, have several layers of lead white (blue areas), magenta  - a single surface layer.</a:t>
            </a:r>
          </a:p>
          <a:p>
            <a:pPr marL="0" indent="0" fontAlgn="ctr">
              <a:buNone/>
            </a:pPr>
            <a:endParaRPr lang="en-GR" dirty="0">
              <a:latin typeface="Calibri" panose="020F0502020204030204" pitchFamily="34" charset="0"/>
              <a:cs typeface="Calibri" panose="020F0502020204030204" pitchFamily="34" charset="0"/>
            </a:endParaRPr>
          </a:p>
          <a:p>
            <a:endParaRPr lang="en-GR" dirty="0"/>
          </a:p>
        </p:txBody>
      </p:sp>
      <p:sp>
        <p:nvSpPr>
          <p:cNvPr id="3" name="Title 2">
            <a:extLst>
              <a:ext uri="{FF2B5EF4-FFF2-40B4-BE49-F238E27FC236}">
                <a16:creationId xmlns:a16="http://schemas.microsoft.com/office/drawing/2014/main" id="{45A2DE23-2E19-4DA7-36A6-1CBDB01B9CEC}"/>
              </a:ext>
            </a:extLst>
          </p:cNvPr>
          <p:cNvSpPr>
            <a:spLocks noGrp="1"/>
          </p:cNvSpPr>
          <p:nvPr>
            <p:ph type="title"/>
          </p:nvPr>
        </p:nvSpPr>
        <p:spPr/>
        <p:txBody>
          <a:bodyPr>
            <a:normAutofit/>
          </a:bodyPr>
          <a:lstStyle/>
          <a:p>
            <a:r>
              <a:rPr lang="en-GB" dirty="0">
                <a:latin typeface="Calibri" panose="020F0502020204030204" pitchFamily="34" charset="0"/>
                <a:cs typeface="Calibri" panose="020F0502020204030204" pitchFamily="34" charset="0"/>
              </a:rPr>
              <a:t>Lead white</a:t>
            </a:r>
            <a:endParaRPr lang="en-GR" dirty="0">
              <a:latin typeface="Calibri" panose="020F0502020204030204" pitchFamily="34" charset="0"/>
              <a:cs typeface="Calibri" panose="020F0502020204030204" pitchFamily="34" charset="0"/>
            </a:endParaRPr>
          </a:p>
        </p:txBody>
      </p:sp>
      <p:pic>
        <p:nvPicPr>
          <p:cNvPr id="8" name="Image" descr="Image">
            <a:extLst>
              <a:ext uri="{FF2B5EF4-FFF2-40B4-BE49-F238E27FC236}">
                <a16:creationId xmlns:a16="http://schemas.microsoft.com/office/drawing/2014/main" id="{9BE11A0B-C367-9405-171E-4C9081433993}"/>
              </a:ext>
            </a:extLst>
          </p:cNvPr>
          <p:cNvPicPr>
            <a:picLocks noGrp="1" noChangeAspect="1"/>
          </p:cNvPicPr>
          <p:nvPr>
            <p:ph type="pic" idx="1"/>
          </p:nvPr>
        </p:nvPicPr>
        <p:blipFill>
          <a:blip r:embed="rId2"/>
          <a:srcRect l="18861" r="18861"/>
          <a:stretch>
            <a:fillRect/>
          </a:stretch>
        </p:blipFill>
        <p:spPr>
          <a:prstGeom prst="rect">
            <a:avLst/>
          </a:prstGeom>
          <a:ln w="12700">
            <a:miter lim="400000"/>
          </a:ln>
        </p:spPr>
      </p:pic>
    </p:spTree>
    <p:extLst>
      <p:ext uri="{BB962C8B-B14F-4D97-AF65-F5344CB8AC3E}">
        <p14:creationId xmlns:p14="http://schemas.microsoft.com/office/powerpoint/2010/main" val="19569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7BE0-D590-795C-89FE-89D79A6E70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8E36B2-0429-7F4F-00C8-05C4855383EA}"/>
              </a:ext>
            </a:extLst>
          </p:cNvPr>
          <p:cNvSpPr>
            <a:spLocks noGrp="1"/>
          </p:cNvSpPr>
          <p:nvPr>
            <p:ph type="ctrTitle"/>
          </p:nvPr>
        </p:nvSpPr>
        <p:spPr>
          <a:xfrm>
            <a:off x="1524000" y="2235200"/>
            <a:ext cx="9144000" cy="2387600"/>
          </a:xfrm>
        </p:spPr>
        <p:txBody>
          <a:bodyPr anchor="ctr">
            <a:normAutofit/>
          </a:bodyPr>
          <a:lstStyle/>
          <a:p>
            <a:r>
              <a:rPr lang="en-GB" dirty="0">
                <a:latin typeface="Calibri" panose="020F0502020204030204" pitchFamily="34" charset="0"/>
                <a:ea typeface="Noto Sans SemiBold" panose="020B0604020202020204" charset="0"/>
                <a:cs typeface="Calibri" panose="020F0502020204030204" pitchFamily="34" charset="0"/>
              </a:rPr>
              <a:t>Heritage Valuation</a:t>
            </a:r>
          </a:p>
        </p:txBody>
      </p:sp>
    </p:spTree>
    <p:extLst>
      <p:ext uri="{BB962C8B-B14F-4D97-AF65-F5344CB8AC3E}">
        <p14:creationId xmlns:p14="http://schemas.microsoft.com/office/powerpoint/2010/main" val="2579219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C0BD-32F5-AA28-015F-AE6682F82E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9075F82-9A1D-4D62-6AE6-A3E73751D861}"/>
              </a:ext>
            </a:extLst>
          </p:cNvPr>
          <p:cNvSpPr>
            <a:spLocks noGrp="1"/>
          </p:cNvSpPr>
          <p:nvPr>
            <p:ph type="title"/>
          </p:nvPr>
        </p:nvSpPr>
        <p:spPr>
          <a:xfrm>
            <a:off x="838200" y="169793"/>
            <a:ext cx="10515600" cy="891127"/>
          </a:xfrm>
        </p:spPr>
        <p:txBody>
          <a:bodyPr/>
          <a:lstStyle/>
          <a:p>
            <a:pPr algn="ctr"/>
            <a:r>
              <a:rPr lang="en-US" dirty="0">
                <a:latin typeface="Noto Sans SemiBold"/>
                <a:ea typeface="Noto Sans SemiBold"/>
                <a:cs typeface="Noto Sans SemiBold"/>
              </a:rPr>
              <a:t>Heritage Valuation</a:t>
            </a:r>
          </a:p>
        </p:txBody>
      </p:sp>
      <p:pic>
        <p:nvPicPr>
          <p:cNvPr id="6" name="Content Placeholder 5">
            <a:extLst>
              <a:ext uri="{FF2B5EF4-FFF2-40B4-BE49-F238E27FC236}">
                <a16:creationId xmlns:a16="http://schemas.microsoft.com/office/drawing/2014/main" id="{488D2D78-30D1-0C17-28A0-B3E3503BBE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8285" y="1060920"/>
            <a:ext cx="10813454" cy="5463165"/>
          </a:xfrm>
        </p:spPr>
      </p:pic>
    </p:spTree>
    <p:extLst>
      <p:ext uri="{BB962C8B-B14F-4D97-AF65-F5344CB8AC3E}">
        <p14:creationId xmlns:p14="http://schemas.microsoft.com/office/powerpoint/2010/main" val="2182563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Content Placeholder 20">
            <a:extLst>
              <a:ext uri="{FF2B5EF4-FFF2-40B4-BE49-F238E27FC236}">
                <a16:creationId xmlns:a16="http://schemas.microsoft.com/office/drawing/2014/main" id="{FFF3C694-39E1-45DE-A14B-484C399EA8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16780"/>
            <a:ext cx="12066828" cy="3655369"/>
          </a:xfrm>
        </p:spPr>
      </p:pic>
      <p:sp>
        <p:nvSpPr>
          <p:cNvPr id="22" name="Title 2">
            <a:extLst>
              <a:ext uri="{FF2B5EF4-FFF2-40B4-BE49-F238E27FC236}">
                <a16:creationId xmlns:a16="http://schemas.microsoft.com/office/drawing/2014/main" id="{45113A65-8EED-41F4-84EC-2F5C3B0B9B4E}"/>
              </a:ext>
            </a:extLst>
          </p:cNvPr>
          <p:cNvSpPr txBox="1">
            <a:spLocks/>
          </p:cNvSpPr>
          <p:nvPr/>
        </p:nvSpPr>
        <p:spPr>
          <a:xfrm>
            <a:off x="838200" y="169793"/>
            <a:ext cx="10515600" cy="8911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Noto Sans SemiBold" panose="020B0502040504020204" pitchFamily="34" charset="0"/>
                <a:cs typeface="Arial" panose="020B0604020202020204" pitchFamily="34" charset="0"/>
              </a:defRPr>
            </a:lvl1pPr>
          </a:lstStyle>
          <a:p>
            <a:pPr algn="ctr"/>
            <a:r>
              <a:rPr lang="en-US" dirty="0" err="1">
                <a:latin typeface="Noto Sans SemiBold"/>
                <a:ea typeface="Noto Sans SemiBold"/>
                <a:cs typeface="Noto Sans SemiBold"/>
              </a:rPr>
              <a:t>Derynia</a:t>
            </a:r>
            <a:r>
              <a:rPr lang="en-US" dirty="0">
                <a:latin typeface="Noto Sans SemiBold"/>
                <a:ea typeface="Noto Sans SemiBold"/>
                <a:cs typeface="Noto Sans SemiBold"/>
              </a:rPr>
              <a:t> - Heritage Valuation</a:t>
            </a:r>
          </a:p>
        </p:txBody>
      </p:sp>
    </p:spTree>
    <p:extLst>
      <p:ext uri="{BB962C8B-B14F-4D97-AF65-F5344CB8AC3E}">
        <p14:creationId xmlns:p14="http://schemas.microsoft.com/office/powerpoint/2010/main" val="3785059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961104-5373-430F-AF6B-F0D89C58A83D}"/>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1F7B21D1-4A7A-4053-BFC1-89E9BCDD21D2}"/>
              </a:ext>
            </a:extLst>
          </p:cNvPr>
          <p:cNvSpPr>
            <a:spLocks noGrp="1"/>
          </p:cNvSpPr>
          <p:nvPr>
            <p:ph type="title"/>
          </p:nvPr>
        </p:nvSpPr>
        <p:spPr>
          <a:xfrm>
            <a:off x="838200" y="671511"/>
            <a:ext cx="10515600" cy="891127"/>
          </a:xfrm>
        </p:spPr>
        <p:txBody>
          <a:bodyPr/>
          <a:lstStyle/>
          <a:p>
            <a:r>
              <a:rPr lang="en-US" dirty="0" err="1"/>
              <a:t>Derynia</a:t>
            </a:r>
            <a:r>
              <a:rPr lang="en-US" dirty="0"/>
              <a:t> - Valuation</a:t>
            </a:r>
          </a:p>
        </p:txBody>
      </p:sp>
      <p:pic>
        <p:nvPicPr>
          <p:cNvPr id="5" name="Picture 4">
            <a:extLst>
              <a:ext uri="{FF2B5EF4-FFF2-40B4-BE49-F238E27FC236}">
                <a16:creationId xmlns:a16="http://schemas.microsoft.com/office/drawing/2014/main" id="{3CA4143D-C96E-49DC-9DA3-6074634521A9}"/>
              </a:ext>
            </a:extLst>
          </p:cNvPr>
          <p:cNvPicPr>
            <a:picLocks noChangeAspect="1"/>
          </p:cNvPicPr>
          <p:nvPr/>
        </p:nvPicPr>
        <p:blipFill>
          <a:blip r:embed="rId2"/>
          <a:stretch>
            <a:fillRect/>
          </a:stretch>
        </p:blipFill>
        <p:spPr>
          <a:xfrm>
            <a:off x="0" y="1431677"/>
            <a:ext cx="12192000" cy="5137646"/>
          </a:xfrm>
          <a:prstGeom prst="rect">
            <a:avLst/>
          </a:prstGeom>
        </p:spPr>
      </p:pic>
    </p:spTree>
    <p:extLst>
      <p:ext uri="{BB962C8B-B14F-4D97-AF65-F5344CB8AC3E}">
        <p14:creationId xmlns:p14="http://schemas.microsoft.com/office/powerpoint/2010/main" val="323174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2733C-F844-DEBA-CCF0-9B94014D8768}"/>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228E26AC-7987-FDBF-6EC9-2F8203039052}"/>
              </a:ext>
            </a:extLst>
          </p:cNvPr>
          <p:cNvSpPr txBox="1">
            <a:spLocks/>
          </p:cNvSpPr>
          <p:nvPr/>
        </p:nvSpPr>
        <p:spPr>
          <a:xfrm>
            <a:off x="1564579" y="2412293"/>
            <a:ext cx="9144000" cy="1210625"/>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Noto Sans SemiBold" panose="020B0502040504020204" pitchFamily="34" charset="0"/>
                <a:cs typeface="Arial" panose="020B0604020202020204" pitchFamily="34" charset="0"/>
              </a:defRPr>
            </a:lvl1pPr>
          </a:lstStyle>
          <a:p>
            <a:r>
              <a:rPr lang="en-US" dirty="0">
                <a:latin typeface="Noto Sans SemiBold"/>
                <a:ea typeface="Noto Sans SemiBold"/>
                <a:cs typeface="Noto Sans SemiBold"/>
              </a:rPr>
              <a:t>Digital Twin Maintenance</a:t>
            </a:r>
            <a:endParaRPr lang="en-GB" sz="2200" dirty="0">
              <a:latin typeface="Calibri" panose="020F0502020204030204" pitchFamily="34" charset="0"/>
              <a:ea typeface="Noto Sans SemiBold" panose="020B0604020202020204" charset="0"/>
              <a:cs typeface="Calibri" panose="020F0502020204030204" pitchFamily="34" charset="0"/>
            </a:endParaRPr>
          </a:p>
        </p:txBody>
      </p:sp>
    </p:spTree>
    <p:extLst>
      <p:ext uri="{BB962C8B-B14F-4D97-AF65-F5344CB8AC3E}">
        <p14:creationId xmlns:p14="http://schemas.microsoft.com/office/powerpoint/2010/main" val="934202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B825-F39D-7BAA-6722-2EAA61FCDE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42FF35-952B-3D06-9766-35D90C0C47B8}"/>
              </a:ext>
            </a:extLst>
          </p:cNvPr>
          <p:cNvSpPr>
            <a:spLocks noGrp="1"/>
          </p:cNvSpPr>
          <p:nvPr>
            <p:ph type="title"/>
          </p:nvPr>
        </p:nvSpPr>
        <p:spPr>
          <a:xfrm>
            <a:off x="838200" y="169793"/>
            <a:ext cx="10515600" cy="891127"/>
          </a:xfrm>
        </p:spPr>
        <p:txBody>
          <a:bodyPr/>
          <a:lstStyle/>
          <a:p>
            <a:pPr algn="ctr"/>
            <a:r>
              <a:rPr lang="en-US" dirty="0">
                <a:latin typeface="Noto Sans SemiBold"/>
                <a:ea typeface="Noto Sans SemiBold"/>
                <a:cs typeface="Noto Sans SemiBold"/>
              </a:rPr>
              <a:t>Digital Twin Maintenance</a:t>
            </a:r>
          </a:p>
        </p:txBody>
      </p:sp>
      <p:pic>
        <p:nvPicPr>
          <p:cNvPr id="7" name="Content Placeholder 6">
            <a:extLst>
              <a:ext uri="{FF2B5EF4-FFF2-40B4-BE49-F238E27FC236}">
                <a16:creationId xmlns:a16="http://schemas.microsoft.com/office/drawing/2014/main" id="{6BDE3DEA-8AED-2085-5B44-65982227065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0790" y="1246909"/>
            <a:ext cx="11229093" cy="5133924"/>
          </a:xfrm>
        </p:spPr>
      </p:pic>
    </p:spTree>
    <p:extLst>
      <p:ext uri="{BB962C8B-B14F-4D97-AF65-F5344CB8AC3E}">
        <p14:creationId xmlns:p14="http://schemas.microsoft.com/office/powerpoint/2010/main" val="4272683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7C77B7-DEDF-4877-8986-2CC8BA470F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7330" y="605790"/>
            <a:ext cx="9901218" cy="6200956"/>
          </a:xfrm>
        </p:spPr>
      </p:pic>
      <p:sp>
        <p:nvSpPr>
          <p:cNvPr id="6" name="Title 2">
            <a:extLst>
              <a:ext uri="{FF2B5EF4-FFF2-40B4-BE49-F238E27FC236}">
                <a16:creationId xmlns:a16="http://schemas.microsoft.com/office/drawing/2014/main" id="{54A8B391-A597-4E73-8EA1-EE20D08312CF}"/>
              </a:ext>
            </a:extLst>
          </p:cNvPr>
          <p:cNvSpPr txBox="1">
            <a:spLocks/>
          </p:cNvSpPr>
          <p:nvPr/>
        </p:nvSpPr>
        <p:spPr>
          <a:xfrm>
            <a:off x="838200" y="169793"/>
            <a:ext cx="10515600" cy="8911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Noto Sans SemiBold" panose="020B0502040504020204" pitchFamily="34" charset="0"/>
                <a:cs typeface="Arial" panose="020B0604020202020204" pitchFamily="34" charset="0"/>
              </a:defRPr>
            </a:lvl1pPr>
          </a:lstStyle>
          <a:p>
            <a:pPr algn="ctr"/>
            <a:r>
              <a:rPr lang="en-US" dirty="0" err="1">
                <a:latin typeface="Noto Sans SemiBold"/>
                <a:ea typeface="Noto Sans SemiBold"/>
                <a:cs typeface="Noto Sans SemiBold"/>
              </a:rPr>
              <a:t>Derynia</a:t>
            </a:r>
            <a:r>
              <a:rPr lang="en-US" dirty="0">
                <a:latin typeface="Noto Sans SemiBold"/>
                <a:ea typeface="Noto Sans SemiBold"/>
                <a:cs typeface="Noto Sans SemiBold"/>
              </a:rPr>
              <a:t> - Digital Twin Maintenance 1</a:t>
            </a:r>
          </a:p>
        </p:txBody>
      </p:sp>
    </p:spTree>
    <p:extLst>
      <p:ext uri="{BB962C8B-B14F-4D97-AF65-F5344CB8AC3E}">
        <p14:creationId xmlns:p14="http://schemas.microsoft.com/office/powerpoint/2010/main" val="2153973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54A8B391-A597-4E73-8EA1-EE20D08312CF}"/>
              </a:ext>
            </a:extLst>
          </p:cNvPr>
          <p:cNvSpPr txBox="1">
            <a:spLocks/>
          </p:cNvSpPr>
          <p:nvPr/>
        </p:nvSpPr>
        <p:spPr>
          <a:xfrm>
            <a:off x="838200" y="169793"/>
            <a:ext cx="10515600" cy="8911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Noto Sans SemiBold" panose="020B0502040504020204" pitchFamily="34" charset="0"/>
                <a:cs typeface="Arial" panose="020B0604020202020204" pitchFamily="34" charset="0"/>
              </a:defRPr>
            </a:lvl1pPr>
          </a:lstStyle>
          <a:p>
            <a:pPr algn="ctr"/>
            <a:r>
              <a:rPr lang="en-US" dirty="0" err="1">
                <a:latin typeface="Noto Sans SemiBold"/>
                <a:ea typeface="Noto Sans SemiBold"/>
                <a:cs typeface="Noto Sans SemiBold"/>
              </a:rPr>
              <a:t>Derynia</a:t>
            </a:r>
            <a:r>
              <a:rPr lang="en-US" dirty="0">
                <a:latin typeface="Noto Sans SemiBold"/>
                <a:ea typeface="Noto Sans SemiBold"/>
                <a:cs typeface="Noto Sans SemiBold"/>
              </a:rPr>
              <a:t> - Digital Twin Maintenance 2</a:t>
            </a:r>
          </a:p>
        </p:txBody>
      </p:sp>
      <p:pic>
        <p:nvPicPr>
          <p:cNvPr id="7" name="Content Placeholder 6">
            <a:extLst>
              <a:ext uri="{FF2B5EF4-FFF2-40B4-BE49-F238E27FC236}">
                <a16:creationId xmlns:a16="http://schemas.microsoft.com/office/drawing/2014/main" id="{F332A7D3-0459-46ED-B4FC-7582FE64FA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7187" y="1204224"/>
            <a:ext cx="9708463" cy="5483983"/>
          </a:xfrm>
        </p:spPr>
      </p:pic>
    </p:spTree>
    <p:extLst>
      <p:ext uri="{BB962C8B-B14F-4D97-AF65-F5344CB8AC3E}">
        <p14:creationId xmlns:p14="http://schemas.microsoft.com/office/powerpoint/2010/main" val="4037116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54A8B391-A597-4E73-8EA1-EE20D08312CF}"/>
              </a:ext>
            </a:extLst>
          </p:cNvPr>
          <p:cNvSpPr txBox="1">
            <a:spLocks/>
          </p:cNvSpPr>
          <p:nvPr/>
        </p:nvSpPr>
        <p:spPr>
          <a:xfrm>
            <a:off x="838200" y="169793"/>
            <a:ext cx="10515600" cy="8911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Noto Sans SemiBold" panose="020B0502040504020204" pitchFamily="34" charset="0"/>
                <a:cs typeface="Arial" panose="020B0604020202020204" pitchFamily="34" charset="0"/>
              </a:defRPr>
            </a:lvl1pPr>
          </a:lstStyle>
          <a:p>
            <a:pPr algn="ctr"/>
            <a:r>
              <a:rPr lang="en-US" dirty="0" err="1">
                <a:latin typeface="Noto Sans SemiBold"/>
                <a:ea typeface="Noto Sans SemiBold"/>
                <a:cs typeface="Noto Sans SemiBold"/>
              </a:rPr>
              <a:t>Derynia</a:t>
            </a:r>
            <a:r>
              <a:rPr lang="en-US" dirty="0">
                <a:latin typeface="Noto Sans SemiBold"/>
                <a:ea typeface="Noto Sans SemiBold"/>
                <a:cs typeface="Noto Sans SemiBold"/>
              </a:rPr>
              <a:t> - Digital Twin Maintenance 3</a:t>
            </a:r>
          </a:p>
        </p:txBody>
      </p:sp>
      <p:pic>
        <p:nvPicPr>
          <p:cNvPr id="11" name="Content Placeholder 10">
            <a:extLst>
              <a:ext uri="{FF2B5EF4-FFF2-40B4-BE49-F238E27FC236}">
                <a16:creationId xmlns:a16="http://schemas.microsoft.com/office/drawing/2014/main" id="{AF047012-486E-49AF-A23A-76D9E23C69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3620" y="840424"/>
            <a:ext cx="6656139" cy="6017576"/>
          </a:xfrm>
        </p:spPr>
      </p:pic>
    </p:spTree>
    <p:extLst>
      <p:ext uri="{BB962C8B-B14F-4D97-AF65-F5344CB8AC3E}">
        <p14:creationId xmlns:p14="http://schemas.microsoft.com/office/powerpoint/2010/main" val="1248995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FA341-B137-EF9D-749B-4C31E6BD0F72}"/>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BF9558EF-C666-8CCB-8387-BFDF2DCAB9DC}"/>
              </a:ext>
            </a:extLst>
          </p:cNvPr>
          <p:cNvSpPr txBox="1">
            <a:spLocks/>
          </p:cNvSpPr>
          <p:nvPr/>
        </p:nvSpPr>
        <p:spPr>
          <a:xfrm>
            <a:off x="1564579" y="2412293"/>
            <a:ext cx="9144000" cy="1210625"/>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Noto Sans SemiBold" panose="020B0502040504020204" pitchFamily="34" charset="0"/>
                <a:cs typeface="Arial" panose="020B0604020202020204" pitchFamily="34" charset="0"/>
              </a:defRPr>
            </a:lvl1pPr>
          </a:lstStyle>
          <a:p>
            <a:r>
              <a:rPr lang="en-US" dirty="0">
                <a:latin typeface="Noto Sans SemiBold"/>
                <a:ea typeface="Noto Sans SemiBold"/>
                <a:cs typeface="Noto Sans SemiBold"/>
              </a:rPr>
              <a:t>Study</a:t>
            </a:r>
            <a:endParaRPr lang="en-GB" sz="2200" dirty="0">
              <a:latin typeface="Calibri" panose="020F0502020204030204" pitchFamily="34" charset="0"/>
              <a:ea typeface="Noto Sans SemiBold" panose="020B0604020202020204" charset="0"/>
              <a:cs typeface="Calibri" panose="020F0502020204030204" pitchFamily="34" charset="0"/>
            </a:endParaRPr>
          </a:p>
        </p:txBody>
      </p:sp>
    </p:spTree>
    <p:extLst>
      <p:ext uri="{BB962C8B-B14F-4D97-AF65-F5344CB8AC3E}">
        <p14:creationId xmlns:p14="http://schemas.microsoft.com/office/powerpoint/2010/main" val="213621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5386-22B3-FB42-5BE9-2F09D0F6CC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2FDE0D-D65B-2603-C6FA-2B4BDA17BB61}"/>
              </a:ext>
            </a:extLst>
          </p:cNvPr>
          <p:cNvSpPr>
            <a:spLocks noGrp="1"/>
          </p:cNvSpPr>
          <p:nvPr>
            <p:ph type="title"/>
          </p:nvPr>
        </p:nvSpPr>
        <p:spPr>
          <a:xfrm>
            <a:off x="838200" y="169793"/>
            <a:ext cx="10515600" cy="891127"/>
          </a:xfrm>
        </p:spPr>
        <p:txBody>
          <a:bodyPr/>
          <a:lstStyle/>
          <a:p>
            <a:pPr algn="ctr"/>
            <a:r>
              <a:rPr lang="en-US" dirty="0">
                <a:latin typeface="Noto Sans SemiBold"/>
                <a:ea typeface="Noto Sans SemiBold"/>
                <a:cs typeface="Noto Sans SemiBold"/>
              </a:rPr>
              <a:t>Study</a:t>
            </a:r>
          </a:p>
        </p:txBody>
      </p:sp>
      <p:pic>
        <p:nvPicPr>
          <p:cNvPr id="7" name="Content Placeholder 6">
            <a:extLst>
              <a:ext uri="{FF2B5EF4-FFF2-40B4-BE49-F238E27FC236}">
                <a16:creationId xmlns:a16="http://schemas.microsoft.com/office/drawing/2014/main" id="{E92B9610-79F7-5AFE-802F-97C075B136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0791" y="1281578"/>
            <a:ext cx="9802009" cy="5676915"/>
          </a:xfrm>
        </p:spPr>
      </p:pic>
    </p:spTree>
    <p:extLst>
      <p:ext uri="{BB962C8B-B14F-4D97-AF65-F5344CB8AC3E}">
        <p14:creationId xmlns:p14="http://schemas.microsoft.com/office/powerpoint/2010/main" val="4261986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07D5B0-441E-94D4-BA45-D028A15DBC48}"/>
              </a:ext>
            </a:extLst>
          </p:cNvPr>
          <p:cNvSpPr>
            <a:spLocks noGrp="1"/>
          </p:cNvSpPr>
          <p:nvPr>
            <p:ph type="title"/>
          </p:nvPr>
        </p:nvSpPr>
        <p:spPr>
          <a:xfrm>
            <a:off x="824345" y="2537552"/>
            <a:ext cx="10515600" cy="891127"/>
          </a:xfrm>
        </p:spPr>
        <p:txBody>
          <a:bodyPr>
            <a:normAutofit fontScale="90000"/>
          </a:bodyPr>
          <a:lstStyle/>
          <a:p>
            <a:pPr>
              <a:lnSpc>
                <a:spcPct val="100000"/>
              </a:lnSpc>
              <a:spcBef>
                <a:spcPts val="1000"/>
              </a:spcBef>
            </a:pPr>
            <a:br>
              <a:rPr lang="en-GB" sz="2700" dirty="0">
                <a:ea typeface="Noto Sans SemiBold"/>
                <a:cs typeface="Arial"/>
              </a:rPr>
            </a:br>
            <a:r>
              <a:rPr lang="en-GB" sz="4000" dirty="0">
                <a:latin typeface="Noto Sans" panose="020B0502040504020204" pitchFamily="34" charset="0"/>
                <a:ea typeface="Noto Sans" panose="020B0502040504020204" pitchFamily="34" charset="0"/>
                <a:cs typeface="Noto Sans" panose="020B0502040504020204" pitchFamily="34" charset="0"/>
              </a:rPr>
              <a:t>Thank you for your attention!</a:t>
            </a:r>
            <a:br>
              <a:rPr lang="en-GB" sz="4000" dirty="0">
                <a:latin typeface="Noto Sans" panose="020B0502040504020204" pitchFamily="34" charset="0"/>
                <a:ea typeface="Noto Sans" panose="020B0502040504020204" pitchFamily="34" charset="0"/>
                <a:cs typeface="Noto Sans" panose="020B0502040504020204" pitchFamily="34" charset="0"/>
              </a:rPr>
            </a:br>
            <a:r>
              <a:rPr lang="en-GB" sz="2700" dirty="0">
                <a:latin typeface="Noto Sans" panose="020B0502040504020204" pitchFamily="34" charset="0"/>
                <a:ea typeface="Noto Sans" panose="020B0502040504020204" pitchFamily="34" charset="0"/>
                <a:cs typeface="Noto Sans" panose="020B0502040504020204" pitchFamily="34" charset="0"/>
              </a:rPr>
              <a:t>Let’s stay in touch:</a:t>
            </a:r>
            <a:br>
              <a:rPr lang="en-GB" sz="2700" dirty="0">
                <a:latin typeface="Noto Sans" panose="020B0502040504020204" pitchFamily="34" charset="0"/>
                <a:ea typeface="Noto Sans" panose="020B0502040504020204" pitchFamily="34" charset="0"/>
                <a:cs typeface="Noto Sans" panose="020B0502040504020204" pitchFamily="34" charset="0"/>
              </a:rPr>
            </a:br>
            <a:br>
              <a:rPr lang="en-GB" sz="2000" dirty="0">
                <a:latin typeface="Noto Sans" panose="020B0502040504020204" pitchFamily="34" charset="0"/>
                <a:ea typeface="Noto Sans" panose="020B0502040504020204" pitchFamily="34" charset="0"/>
                <a:cs typeface="Noto Sans" panose="020B0502040504020204" pitchFamily="34" charset="0"/>
              </a:rPr>
            </a:br>
            <a:r>
              <a:rPr lang="en-GB" sz="2000" u="sng" dirty="0">
                <a:latin typeface="Noto Sans" panose="020B0502040504020204" pitchFamily="34" charset="0"/>
                <a:ea typeface="Noto Sans" panose="020B0502040504020204" pitchFamily="34" charset="0"/>
                <a:cs typeface="Noto Sans" panose="020B0502040504020204" pitchFamily="34" charset="0"/>
              </a:rPr>
              <a:t>maria@ics.forth.gr</a:t>
            </a:r>
            <a:br>
              <a:rPr lang="en-GB" sz="2000" dirty="0">
                <a:latin typeface="Noto Sans" panose="020B0502040504020204" pitchFamily="34" charset="0"/>
                <a:ea typeface="Noto Sans" panose="020B0502040504020204" pitchFamily="34" charset="0"/>
                <a:cs typeface="Noto Sans" panose="020B0502040504020204" pitchFamily="34" charset="0"/>
              </a:rPr>
            </a:br>
            <a:br>
              <a:rPr lang="en-GB" sz="2200" dirty="0">
                <a:latin typeface="Noto Sans" panose="020B0502040504020204" pitchFamily="34" charset="0"/>
                <a:ea typeface="Noto Sans" panose="020B0502040504020204" pitchFamily="34" charset="0"/>
                <a:cs typeface="Noto Sans" panose="020B0502040504020204" pitchFamily="34" charset="0"/>
              </a:rPr>
            </a:br>
            <a:r>
              <a:rPr lang="en-GB" sz="2200" dirty="0">
                <a:latin typeface="Noto Sans" panose="020B0502040504020204" pitchFamily="34" charset="0"/>
                <a:ea typeface="Noto Sans" panose="020B0502040504020204" pitchFamily="34" charset="0"/>
                <a:cs typeface="Noto Sans" panose="020B0502040504020204" pitchFamily="34" charset="0"/>
              </a:rPr>
              <a:t>For general inquiries: </a:t>
            </a:r>
            <a:br>
              <a:rPr lang="en-GB" sz="2200" dirty="0">
                <a:latin typeface="Noto Sans" panose="020B0502040504020204" pitchFamily="34" charset="0"/>
                <a:ea typeface="Noto Sans" panose="020B0502040504020204" pitchFamily="34" charset="0"/>
                <a:cs typeface="Noto Sans" panose="020B0502040504020204" pitchFamily="34" charset="0"/>
              </a:rPr>
            </a:br>
            <a:r>
              <a:rPr lang="fr-FR" sz="2000" dirty="0">
                <a:latin typeface="Noto Sans" panose="020B0502040504020204" pitchFamily="34" charset="0"/>
                <a:ea typeface="Noto Sans" panose="020B0502040504020204" pitchFamily="34" charset="0"/>
                <a:cs typeface="Noto Sans" panose="020B0502040504020204" pitchFamily="34" charset="0"/>
                <a:hlinkClick r:id="rId2">
                  <a:extLst>
                    <a:ext uri="{A12FA001-AC4F-418D-AE19-62706E023703}">
                      <ahyp:hlinkClr xmlns:ahyp="http://schemas.microsoft.com/office/drawing/2018/hyperlinkcolor" val="tx"/>
                    </a:ext>
                  </a:extLst>
                </a:hlinkClick>
              </a:rPr>
              <a:t>contact@echoes-eccch.eu</a:t>
            </a:r>
            <a:br>
              <a:rPr lang="en-GB" sz="2200" dirty="0">
                <a:latin typeface="Noto Sans" panose="020B0502040504020204" pitchFamily="34" charset="0"/>
                <a:ea typeface="Noto Sans" panose="020B0502040504020204" pitchFamily="34" charset="0"/>
                <a:cs typeface="Noto Sans" panose="020B0502040504020204" pitchFamily="34" charset="0"/>
              </a:rPr>
            </a:br>
            <a:br>
              <a:rPr lang="en-GB" dirty="0">
                <a:ea typeface="Noto Sans SemiBold"/>
                <a:cs typeface="Arial"/>
              </a:rPr>
            </a:br>
            <a:endParaRPr lang="en-GB" dirty="0"/>
          </a:p>
        </p:txBody>
      </p:sp>
      <p:sp>
        <p:nvSpPr>
          <p:cNvPr id="2" name="Title 2">
            <a:extLst>
              <a:ext uri="{FF2B5EF4-FFF2-40B4-BE49-F238E27FC236}">
                <a16:creationId xmlns:a16="http://schemas.microsoft.com/office/drawing/2014/main" id="{D6DDE700-9AAA-79B0-0E80-12DAED7FC931}"/>
              </a:ext>
            </a:extLst>
          </p:cNvPr>
          <p:cNvSpPr txBox="1">
            <a:spLocks/>
          </p:cNvSpPr>
          <p:nvPr/>
        </p:nvSpPr>
        <p:spPr>
          <a:xfrm rot="21326786">
            <a:off x="7103225" y="2087508"/>
            <a:ext cx="4436503" cy="891127"/>
          </a:xfrm>
          <a:prstGeom prst="rect">
            <a:avLst/>
          </a:prstGeom>
          <a:solidFill>
            <a:schemeClr val="accent4">
              <a:lumMod val="20000"/>
              <a:lumOff val="80000"/>
            </a:schemeClr>
          </a:solidFill>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1000"/>
              </a:spcBef>
            </a:pPr>
            <a:br>
              <a:rPr lang="en-GB" sz="2700" dirty="0">
                <a:ea typeface="Noto Sans SemiBold"/>
                <a:cs typeface="Arial"/>
              </a:rPr>
            </a:br>
            <a:r>
              <a:rPr lang="en-GB" sz="4000" dirty="0">
                <a:latin typeface="Noto Sans" panose="020B0502040504020204" pitchFamily="34" charset="0"/>
                <a:ea typeface="Noto Sans" panose="020B0502040504020204" pitchFamily="34" charset="0"/>
                <a:cs typeface="Noto Sans" panose="020B0502040504020204" pitchFamily="34" charset="0"/>
              </a:rPr>
              <a:t>Questions?</a:t>
            </a:r>
            <a:endParaRPr lang="en-GB" dirty="0"/>
          </a:p>
        </p:txBody>
      </p:sp>
      <p:pic>
        <p:nvPicPr>
          <p:cNvPr id="5" name="Graphic 4" descr="Help with solid fill">
            <a:extLst>
              <a:ext uri="{FF2B5EF4-FFF2-40B4-BE49-F238E27FC236}">
                <a16:creationId xmlns:a16="http://schemas.microsoft.com/office/drawing/2014/main" id="{3F452419-01F4-CF64-4FC8-694FD5389C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1508" y="1919409"/>
            <a:ext cx="914400" cy="914400"/>
          </a:xfrm>
          <a:prstGeom prst="rect">
            <a:avLst/>
          </a:prstGeom>
        </p:spPr>
      </p:pic>
      <p:pic>
        <p:nvPicPr>
          <p:cNvPr id="6" name="Graphic 5" descr="Help with solid fill">
            <a:extLst>
              <a:ext uri="{FF2B5EF4-FFF2-40B4-BE49-F238E27FC236}">
                <a16:creationId xmlns:a16="http://schemas.microsoft.com/office/drawing/2014/main" id="{8969F480-CAB3-1830-2528-002D6F32FC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59054" y="2238939"/>
            <a:ext cx="914400" cy="914400"/>
          </a:xfrm>
          <a:prstGeom prst="rect">
            <a:avLst/>
          </a:prstGeom>
        </p:spPr>
      </p:pic>
    </p:spTree>
    <p:extLst>
      <p:ext uri="{BB962C8B-B14F-4D97-AF65-F5344CB8AC3E}">
        <p14:creationId xmlns:p14="http://schemas.microsoft.com/office/powerpoint/2010/main" val="1445152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8412ddc-4c32-439b-b8fd-5e9a3e2d9740" xsi:nil="true"/>
    <lcf76f155ced4ddcb4097134ff3c332f xmlns="2c962fac-d7dc-4ba6-9fca-466b48a11c1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5B19B11C6F82E44AEF759C1D96F7651" ma:contentTypeVersion="12" ma:contentTypeDescription="Crée un document." ma:contentTypeScope="" ma:versionID="5d04ddb8e4b9a2b9c2781d677e02536b">
  <xsd:schema xmlns:xsd="http://www.w3.org/2001/XMLSchema" xmlns:xs="http://www.w3.org/2001/XMLSchema" xmlns:p="http://schemas.microsoft.com/office/2006/metadata/properties" xmlns:ns2="2c962fac-d7dc-4ba6-9fca-466b48a11c17" xmlns:ns3="58412ddc-4c32-439b-b8fd-5e9a3e2d9740" targetNamespace="http://schemas.microsoft.com/office/2006/metadata/properties" ma:root="true" ma:fieldsID="c729cdc4a935201f6e32a691719d7c31" ns2:_="" ns3:_="">
    <xsd:import namespace="2c962fac-d7dc-4ba6-9fca-466b48a11c17"/>
    <xsd:import namespace="58412ddc-4c32-439b-b8fd-5e9a3e2d97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962fac-d7dc-4ba6-9fca-466b48a11c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2fee1a98-43a5-414c-ba74-85edd82ad231"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8412ddc-4c32-439b-b8fd-5e9a3e2d974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2e3fada-442a-4c7f-bcd8-73fd13e66cd5}" ma:internalName="TaxCatchAll" ma:showField="CatchAllData" ma:web="58412ddc-4c32-439b-b8fd-5e9a3e2d97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9C401D-398D-4F17-AF81-B0BED269F5EA}">
  <ds:schemaRefs>
    <ds:schemaRef ds:uri="2c962fac-d7dc-4ba6-9fca-466b48a11c17"/>
    <ds:schemaRef ds:uri="58412ddc-4c32-439b-b8fd-5e9a3e2d97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3D9C69D-E607-46BC-B5A2-B02BBBE47291}">
  <ds:schemaRefs>
    <ds:schemaRef ds:uri="2c962fac-d7dc-4ba6-9fca-466b48a11c17"/>
    <ds:schemaRef ds:uri="58412ddc-4c32-439b-b8fd-5e9a3e2d97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23964D6-CBC0-4511-BB47-537F7270AB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17785</TotalTime>
  <Words>446</Words>
  <Application>Microsoft Office PowerPoint</Application>
  <PresentationFormat>Widescreen</PresentationFormat>
  <Paragraphs>72</Paragraphs>
  <Slides>18</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Noto Sans</vt:lpstr>
      <vt:lpstr>Aptos</vt:lpstr>
      <vt:lpstr>Calibri</vt:lpstr>
      <vt:lpstr>Noto Sans Light</vt:lpstr>
      <vt:lpstr>Optima</vt:lpstr>
      <vt:lpstr>Noto Sans SemiBold</vt:lpstr>
      <vt:lpstr>Aptos Display</vt:lpstr>
      <vt:lpstr>Arial</vt:lpstr>
      <vt:lpstr>Office Theme</vt:lpstr>
      <vt:lpstr>PowerPoint Presentation</vt:lpstr>
      <vt:lpstr>Use Case: The Derynia icon</vt:lpstr>
      <vt:lpstr>The Derynia icon</vt:lpstr>
      <vt:lpstr>Art Characterisation</vt:lpstr>
      <vt:lpstr>Technical metadata of the in-house built MA-XRF, RIS, LIS scanner</vt:lpstr>
      <vt:lpstr>Lead white</vt:lpstr>
      <vt:lpstr>Heritage Valuation</vt:lpstr>
      <vt:lpstr>Heritage Valuation</vt:lpstr>
      <vt:lpstr>PowerPoint Presentation</vt:lpstr>
      <vt:lpstr>Derynia - Valuation</vt:lpstr>
      <vt:lpstr>PowerPoint Presentation</vt:lpstr>
      <vt:lpstr>Digital Twin Maintenance</vt:lpstr>
      <vt:lpstr>PowerPoint Presentation</vt:lpstr>
      <vt:lpstr>PowerPoint Presentation</vt:lpstr>
      <vt:lpstr>PowerPoint Presentation</vt:lpstr>
      <vt:lpstr>PowerPoint Presentation</vt:lpstr>
      <vt:lpstr>Study</vt:lpstr>
      <vt:lpstr> Thank you for your attention! Let’s stay in touch:  maria@ics.forth.gr  For general inquiries:  contact@echoes-eccch.eu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Nicola Amico</dc:creator>
  <cp:lastModifiedBy>Maria Theodoridou</cp:lastModifiedBy>
  <cp:revision>69</cp:revision>
  <dcterms:created xsi:type="dcterms:W3CDTF">2024-09-06T11:28:08Z</dcterms:created>
  <dcterms:modified xsi:type="dcterms:W3CDTF">2026-06-17T13:28:30Z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0x010100A5B19B11C6F82E44AEF759C1D96F7651</vt:lpwstr>
  </property>
  <property fmtid="{D5CDD505-2E9C-101B-9397-08002B2CF9AE}" pid="3" name="MediaServiceImageTags">
    <vt:lpwstr/>
  </property>
</Properties>
</file>